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0"/>
          <p:cNvSpPr txBox="1"/>
          <p:nvPr/>
        </p:nvSpPr>
        <p:spPr>
          <a:xfrm>
            <a:off x="640080" y="5486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 </a:t>
            </a:r>
            <a:pPr algn="l" indent="0" marL="0">
              <a:buNone/>
            </a:pPr>
            <a:r>
              <a:rPr lang="en-US" sz="7000" b="1" spc="30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000" dirty="0"/>
          </a:p>
        </p:txBody>
      </p:sp>
      <p:sp>
        <p:nvSpPr>
          <p:cNvPr id="3" name="anim_01_1"/>
          <p:cNvSpPr txBox="1"/>
          <p:nvPr/>
        </p:nvSpPr>
        <p:spPr>
          <a:xfrm>
            <a:off x="640080" y="1965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STEAM Career Guidance &amp; Hyper-Local Innovation Platform</a:t>
            </a:r>
            <a:endParaRPr lang="en-US" sz="2400" dirty="0"/>
          </a:p>
        </p:txBody>
      </p:sp>
      <p:sp>
        <p:nvSpPr>
          <p:cNvPr id="4" name="anim_02_2"/>
          <p:cNvSpPr/>
          <p:nvPr/>
        </p:nvSpPr>
        <p:spPr>
          <a:xfrm>
            <a:off x="640080" y="3383280"/>
            <a:ext cx="6126480" cy="2926080"/>
          </a:xfrm>
          <a:prstGeom prst="roundRect">
            <a:avLst>
              <a:gd name="adj" fmla="val 562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3"/>
          <p:cNvSpPr txBox="1"/>
          <p:nvPr/>
        </p:nvSpPr>
        <p:spPr>
          <a:xfrm>
            <a:off x="91440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6" name="anim_02_4"/>
          <p:cNvSpPr txBox="1"/>
          <p:nvPr/>
        </p:nvSpPr>
        <p:spPr>
          <a:xfrm>
            <a:off x="914400" y="411480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Sadhasivam S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26BAI1019</a:t>
            </a:r>
            <a:endParaRPr lang="en-US" sz="18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Anantha Krishna S R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26BAI1320</a:t>
            </a:r>
            <a:endParaRPr lang="en-US" sz="18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Rupeesh Kumar N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26BAI1144</a:t>
            </a:r>
            <a:endParaRPr lang="en-US" sz="18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Venkatesh M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26BRS1343</a:t>
            </a:r>
            <a:endParaRPr lang="en-US" sz="18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Abhinav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26BAI1352</a:t>
            </a:r>
            <a:endParaRPr lang="en-US" sz="18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Hanish Naren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26BAI1324</a:t>
            </a:r>
            <a:endParaRPr lang="en-US" sz="1800" dirty="0"/>
          </a:p>
        </p:txBody>
      </p:sp>
      <p:sp>
        <p:nvSpPr>
          <p:cNvPr id="7" name="anim_03_5"/>
          <p:cNvSpPr/>
          <p:nvPr/>
        </p:nvSpPr>
        <p:spPr>
          <a:xfrm>
            <a:off x="7498080" y="4434840"/>
            <a:ext cx="4114800" cy="1737360"/>
          </a:xfrm>
          <a:prstGeom prst="roundRect">
            <a:avLst>
              <a:gd name="adj" fmla="val 94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8" name="anim_03_6"/>
          <p:cNvSpPr txBox="1"/>
          <p:nvPr/>
        </p:nvSpPr>
        <p:spPr>
          <a:xfrm>
            <a:off x="7772400" y="4572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600" kern="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3000" dirty="0"/>
          </a:p>
        </p:txBody>
      </p:sp>
      <p:sp>
        <p:nvSpPr>
          <p:cNvPr id="9" name="anim_03_7"/>
          <p:cNvSpPr txBox="1"/>
          <p:nvPr/>
        </p:nvSpPr>
        <p:spPr>
          <a:xfrm>
            <a:off x="7772400" y="5120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 Busters</a:t>
            </a:r>
            <a:endParaRPr lang="en-US" sz="4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8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4800" dirty="0"/>
          </a:p>
        </p:txBody>
      </p:sp>
      <p:sp>
        <p:nvSpPr>
          <p:cNvPr id="3" name="anim_01_9"/>
          <p:cNvSpPr txBox="1"/>
          <p:nvPr/>
        </p:nvSpPr>
        <p:spPr>
          <a:xfrm>
            <a:off x="548640" y="13716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that turns student responses into clear, personalised guidance.</a:t>
            </a:r>
            <a:endParaRPr lang="en-US" sz="2200" dirty="0"/>
          </a:p>
        </p:txBody>
      </p:sp>
      <p:sp>
        <p:nvSpPr>
          <p:cNvPr id="4" name="anim_02_10"/>
          <p:cNvSpPr/>
          <p:nvPr/>
        </p:nvSpPr>
        <p:spPr>
          <a:xfrm>
            <a:off x="521208" y="2651760"/>
            <a:ext cx="2377440" cy="3566160"/>
          </a:xfrm>
          <a:prstGeom prst="roundRect">
            <a:avLst>
              <a:gd name="adj" fmla="val 6923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11"/>
          <p:cNvSpPr txBox="1"/>
          <p:nvPr/>
        </p:nvSpPr>
        <p:spPr>
          <a:xfrm>
            <a:off x="74980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000" dirty="0"/>
          </a:p>
        </p:txBody>
      </p:sp>
      <p:sp>
        <p:nvSpPr>
          <p:cNvPr id="6" name="anim_02_12"/>
          <p:cNvSpPr txBox="1"/>
          <p:nvPr/>
        </p:nvSpPr>
        <p:spPr>
          <a:xfrm>
            <a:off x="749808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2100" dirty="0"/>
          </a:p>
        </p:txBody>
      </p:sp>
      <p:sp>
        <p:nvSpPr>
          <p:cNvPr id="7" name="anim_02_13"/>
          <p:cNvSpPr txBox="1"/>
          <p:nvPr/>
        </p:nvSpPr>
        <p:spPr>
          <a:xfrm>
            <a:off x="749808" y="44805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complete structured questions across key dimensions.</a:t>
            </a:r>
            <a:endParaRPr lang="en-US" sz="1600" dirty="0"/>
          </a:p>
        </p:txBody>
      </p:sp>
      <p:sp>
        <p:nvSpPr>
          <p:cNvPr id="8" name="anim_02_14"/>
          <p:cNvSpPr/>
          <p:nvPr/>
        </p:nvSpPr>
        <p:spPr>
          <a:xfrm>
            <a:off x="2944368" y="4434840"/>
            <a:ext cx="45720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9" name="anim_03_15"/>
          <p:cNvSpPr/>
          <p:nvPr/>
        </p:nvSpPr>
        <p:spPr>
          <a:xfrm>
            <a:off x="3447288" y="2651760"/>
            <a:ext cx="2377440" cy="3566160"/>
          </a:xfrm>
          <a:prstGeom prst="roundRect">
            <a:avLst>
              <a:gd name="adj" fmla="val 6923"/>
            </a:avLst>
          </a:prstGeom>
          <a:solidFill>
            <a:srgbClr val="059669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0" name="anim_03_16"/>
          <p:cNvSpPr txBox="1"/>
          <p:nvPr/>
        </p:nvSpPr>
        <p:spPr>
          <a:xfrm>
            <a:off x="367588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000" dirty="0"/>
          </a:p>
        </p:txBody>
      </p:sp>
      <p:sp>
        <p:nvSpPr>
          <p:cNvPr id="11" name="anim_03_17"/>
          <p:cNvSpPr txBox="1"/>
          <p:nvPr/>
        </p:nvSpPr>
        <p:spPr>
          <a:xfrm>
            <a:off x="3675888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2100" dirty="0"/>
          </a:p>
        </p:txBody>
      </p:sp>
      <p:sp>
        <p:nvSpPr>
          <p:cNvPr id="12" name="anim_03_18"/>
          <p:cNvSpPr txBox="1"/>
          <p:nvPr/>
        </p:nvSpPr>
        <p:spPr>
          <a:xfrm>
            <a:off x="3675888" y="44805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are evaluated to uncover strengths, preferences and patterns.</a:t>
            </a:r>
            <a:endParaRPr lang="en-US" sz="1600" dirty="0"/>
          </a:p>
        </p:txBody>
      </p:sp>
      <p:sp>
        <p:nvSpPr>
          <p:cNvPr id="13" name="anim_03_19"/>
          <p:cNvSpPr/>
          <p:nvPr/>
        </p:nvSpPr>
        <p:spPr>
          <a:xfrm>
            <a:off x="5870448" y="4434840"/>
            <a:ext cx="45720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14" name="anim_04_20"/>
          <p:cNvSpPr/>
          <p:nvPr/>
        </p:nvSpPr>
        <p:spPr>
          <a:xfrm>
            <a:off x="6373368" y="2651760"/>
            <a:ext cx="2377440" cy="3566160"/>
          </a:xfrm>
          <a:prstGeom prst="roundRect">
            <a:avLst>
              <a:gd name="adj" fmla="val 6923"/>
            </a:avLst>
          </a:prstGeom>
          <a:solidFill>
            <a:srgbClr val="DB2777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5" name="anim_04_21"/>
          <p:cNvSpPr txBox="1"/>
          <p:nvPr/>
        </p:nvSpPr>
        <p:spPr>
          <a:xfrm>
            <a:off x="660196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000" dirty="0"/>
          </a:p>
        </p:txBody>
      </p:sp>
      <p:sp>
        <p:nvSpPr>
          <p:cNvPr id="16" name="anim_04_22"/>
          <p:cNvSpPr txBox="1"/>
          <p:nvPr/>
        </p:nvSpPr>
        <p:spPr>
          <a:xfrm>
            <a:off x="6601968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2100" dirty="0"/>
          </a:p>
        </p:txBody>
      </p:sp>
      <p:sp>
        <p:nvSpPr>
          <p:cNvPr id="17" name="anim_04_23"/>
          <p:cNvSpPr txBox="1"/>
          <p:nvPr/>
        </p:nvSpPr>
        <p:spPr>
          <a:xfrm>
            <a:off x="6601968" y="44805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predicts best-fit paths and future outcomes.</a:t>
            </a:r>
            <a:endParaRPr lang="en-US" sz="1600" dirty="0"/>
          </a:p>
        </p:txBody>
      </p:sp>
      <p:sp>
        <p:nvSpPr>
          <p:cNvPr id="18" name="anim_04_24"/>
          <p:cNvSpPr/>
          <p:nvPr/>
        </p:nvSpPr>
        <p:spPr>
          <a:xfrm>
            <a:off x="8796528" y="4434840"/>
            <a:ext cx="45720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19" name="anim_05_25"/>
          <p:cNvSpPr/>
          <p:nvPr/>
        </p:nvSpPr>
        <p:spPr>
          <a:xfrm>
            <a:off x="9299448" y="2651760"/>
            <a:ext cx="2377440" cy="3566160"/>
          </a:xfrm>
          <a:prstGeom prst="roundRect">
            <a:avLst>
              <a:gd name="adj" fmla="val 6923"/>
            </a:avLst>
          </a:prstGeom>
          <a:solidFill>
            <a:srgbClr val="EA580C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0" name="anim_05_26"/>
          <p:cNvSpPr txBox="1"/>
          <p:nvPr/>
        </p:nvSpPr>
        <p:spPr>
          <a:xfrm>
            <a:off x="952804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000" dirty="0"/>
          </a:p>
        </p:txBody>
      </p:sp>
      <p:sp>
        <p:nvSpPr>
          <p:cNvPr id="21" name="anim_05_27"/>
          <p:cNvSpPr txBox="1"/>
          <p:nvPr/>
        </p:nvSpPr>
        <p:spPr>
          <a:xfrm>
            <a:off x="9528048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/ Profile</a:t>
            </a:r>
            <a:endParaRPr lang="en-US" sz="2100" dirty="0"/>
          </a:p>
        </p:txBody>
      </p:sp>
      <p:sp>
        <p:nvSpPr>
          <p:cNvPr id="22" name="anim_05_28"/>
          <p:cNvSpPr txBox="1"/>
          <p:nvPr/>
        </p:nvSpPr>
        <p:spPr>
          <a:xfrm>
            <a:off x="9528048" y="44805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a clear, personalised profile with recommended next steps.</a:t>
            </a:r>
            <a:endParaRPr lang="en-US" sz="1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29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4800" dirty="0"/>
          </a:p>
        </p:txBody>
      </p:sp>
      <p:sp>
        <p:nvSpPr>
          <p:cNvPr id="3" name="anim_01_30"/>
          <p:cNvSpPr txBox="1"/>
          <p:nvPr/>
        </p:nvSpPr>
        <p:spPr>
          <a:xfrm>
            <a:off x="54864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factors. Two timing modes.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fair, consistent experience.</a:t>
            </a:r>
            <a:endParaRPr lang="en-US" sz="2000" dirty="0"/>
          </a:p>
        </p:txBody>
      </p:sp>
      <p:sp>
        <p:nvSpPr>
          <p:cNvPr id="4" name="anim_02_31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14940000"/>
              <a:gd name="adj2" fmla="val 17460000"/>
              <a:gd name="adj3" fmla="val 25000"/>
            </a:avLst>
          </a:prstGeom>
          <a:solidFill>
            <a:srgbClr val="7C3AED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32"/>
          <p:cNvSpPr txBox="1"/>
          <p:nvPr/>
        </p:nvSpPr>
        <p:spPr>
          <a:xfrm>
            <a:off x="278892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300" dirty="0"/>
          </a:p>
        </p:txBody>
      </p:sp>
      <p:sp>
        <p:nvSpPr>
          <p:cNvPr id="6" name="anim_02_33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17640000"/>
              <a:gd name="adj2" fmla="val 20160000"/>
              <a:gd name="adj3" fmla="val 25000"/>
            </a:avLst>
          </a:prstGeom>
          <a:solidFill>
            <a:srgbClr val="059669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7" name="anim_02_34"/>
          <p:cNvSpPr txBox="1"/>
          <p:nvPr/>
        </p:nvSpPr>
        <p:spPr>
          <a:xfrm>
            <a:off x="3855774" y="300222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8" name="anim_02_35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20340000"/>
              <a:gd name="adj2" fmla="val 1260000"/>
              <a:gd name="adj3" fmla="val 25000"/>
            </a:avLst>
          </a:prstGeom>
          <a:solidFill>
            <a:srgbClr val="EA580C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9" name="anim_02_36"/>
          <p:cNvSpPr txBox="1"/>
          <p:nvPr/>
        </p:nvSpPr>
        <p:spPr>
          <a:xfrm>
            <a:off x="4297680" y="4069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300" dirty="0"/>
          </a:p>
        </p:txBody>
      </p:sp>
      <p:sp>
        <p:nvSpPr>
          <p:cNvPr id="10" name="anim_02_37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1440000"/>
              <a:gd name="adj2" fmla="val 3960000"/>
              <a:gd name="adj3" fmla="val 25000"/>
            </a:avLst>
          </a:prstGeom>
          <a:solidFill>
            <a:srgbClr val="D97706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1" name="anim_02_38"/>
          <p:cNvSpPr txBox="1"/>
          <p:nvPr/>
        </p:nvSpPr>
        <p:spPr>
          <a:xfrm>
            <a:off x="3855774" y="513593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</a:t>
            </a:r>
            <a:endParaRPr lang="en-US" sz="1300" dirty="0"/>
          </a:p>
        </p:txBody>
      </p:sp>
      <p:sp>
        <p:nvSpPr>
          <p:cNvPr id="12" name="anim_02_39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4140000"/>
              <a:gd name="adj2" fmla="val 6660000"/>
              <a:gd name="adj3" fmla="val 25000"/>
            </a:avLst>
          </a:prstGeom>
          <a:solidFill>
            <a:srgbClr val="2563EB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3" name="anim_02_40"/>
          <p:cNvSpPr txBox="1"/>
          <p:nvPr/>
        </p:nvSpPr>
        <p:spPr>
          <a:xfrm>
            <a:off x="2788920" y="5577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14" name="anim_02_41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6840000"/>
              <a:gd name="adj2" fmla="val 9360000"/>
              <a:gd name="adj3" fmla="val 25000"/>
            </a:avLst>
          </a:prstGeom>
          <a:solidFill>
            <a:srgbClr val="DB2777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5" name="anim_02_42"/>
          <p:cNvSpPr txBox="1"/>
          <p:nvPr/>
        </p:nvSpPr>
        <p:spPr>
          <a:xfrm>
            <a:off x="1722066" y="513593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16" name="anim_02_43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9540000"/>
              <a:gd name="adj2" fmla="val 12060000"/>
              <a:gd name="adj3" fmla="val 25000"/>
            </a:avLst>
          </a:prstGeom>
          <a:solidFill>
            <a:srgbClr val="0891B2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7" name="anim_02_44"/>
          <p:cNvSpPr txBox="1"/>
          <p:nvPr/>
        </p:nvSpPr>
        <p:spPr>
          <a:xfrm>
            <a:off x="1280160" y="4069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</a:t>
            </a:r>
            <a:endParaRPr lang="en-US" sz="1300" dirty="0"/>
          </a:p>
        </p:txBody>
      </p:sp>
      <p:sp>
        <p:nvSpPr>
          <p:cNvPr id="18" name="anim_02_45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12240000"/>
              <a:gd name="adj2" fmla="val 14760000"/>
              <a:gd name="adj3" fmla="val 25000"/>
            </a:avLst>
          </a:prstGeom>
          <a:solidFill>
            <a:srgbClr val="4F46E5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9" name="anim_02_46"/>
          <p:cNvSpPr txBox="1"/>
          <p:nvPr/>
        </p:nvSpPr>
        <p:spPr>
          <a:xfrm>
            <a:off x="1722066" y="300222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20" name="anim_02_47"/>
          <p:cNvSpPr/>
          <p:nvPr/>
        </p:nvSpPr>
        <p:spPr>
          <a:xfrm>
            <a:off x="2560320" y="3566160"/>
            <a:ext cx="1737360" cy="1737360"/>
          </a:xfrm>
          <a:prstGeom prst="ellipse">
            <a:avLst/>
          </a:prstGeom>
          <a:solidFill>
            <a:srgbClr val="FFFFFF">
              <a:alpha val="15000"/>
            </a:srgbClr>
          </a:solidFill>
          <a:ln w="25400">
            <a:solidFill>
              <a:srgbClr val="67E8F9"/>
            </a:solidFill>
            <a:prstDash val="solid"/>
          </a:ln>
        </p:spPr>
      </p:sp>
      <p:sp>
        <p:nvSpPr>
          <p:cNvPr id="21" name="anim_02_48"/>
          <p:cNvSpPr txBox="1"/>
          <p:nvPr/>
        </p:nvSpPr>
        <p:spPr>
          <a:xfrm>
            <a:off x="2606040" y="4023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</a:t>
            </a:r>
            <a:endParaRPr lang="en-US" sz="1800" dirty="0"/>
          </a:p>
        </p:txBody>
      </p:sp>
      <p:sp>
        <p:nvSpPr>
          <p:cNvPr id="22" name="anim_03_49"/>
          <p:cNvSpPr txBox="1"/>
          <p:nvPr/>
        </p:nvSpPr>
        <p:spPr>
          <a:xfrm>
            <a:off x="69494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BEHAVIOR</a:t>
            </a:r>
            <a:endParaRPr lang="en-US" sz="2000" dirty="0"/>
          </a:p>
        </p:txBody>
      </p:sp>
      <p:sp>
        <p:nvSpPr>
          <p:cNvPr id="23" name="anim_04_50"/>
          <p:cNvSpPr/>
          <p:nvPr/>
        </p:nvSpPr>
        <p:spPr>
          <a:xfrm>
            <a:off x="6949440" y="2331720"/>
            <a:ext cx="4754880" cy="1234440"/>
          </a:xfrm>
          <a:prstGeom prst="roundRect">
            <a:avLst>
              <a:gd name="adj" fmla="val 13333"/>
            </a:avLst>
          </a:prstGeom>
          <a:solidFill>
            <a:srgbClr val="7C3AED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4" name="anim_04_51"/>
          <p:cNvSpPr txBox="1"/>
          <p:nvPr/>
        </p:nvSpPr>
        <p:spPr>
          <a:xfrm>
            <a:off x="7178040" y="25146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25" name="anim_04_52"/>
          <p:cNvSpPr/>
          <p:nvPr/>
        </p:nvSpPr>
        <p:spPr>
          <a:xfrm>
            <a:off x="8321040" y="2560320"/>
            <a:ext cx="0" cy="77724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anim_04_53"/>
          <p:cNvSpPr txBox="1"/>
          <p:nvPr/>
        </p:nvSpPr>
        <p:spPr>
          <a:xfrm>
            <a:off x="8503920" y="2441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</a:t>
            </a:r>
            <a:endParaRPr lang="en-US" sz="2200" dirty="0"/>
          </a:p>
        </p:txBody>
      </p:sp>
      <p:sp>
        <p:nvSpPr>
          <p:cNvPr id="27" name="anim_04_54"/>
          <p:cNvSpPr txBox="1"/>
          <p:nvPr/>
        </p:nvSpPr>
        <p:spPr>
          <a:xfrm>
            <a:off x="850392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seconds per question</a:t>
            </a:r>
            <a:endParaRPr lang="en-US" sz="1600" dirty="0"/>
          </a:p>
        </p:txBody>
      </p:sp>
      <p:sp>
        <p:nvSpPr>
          <p:cNvPr id="28" name="anim_05_55"/>
          <p:cNvSpPr/>
          <p:nvPr/>
        </p:nvSpPr>
        <p:spPr>
          <a:xfrm>
            <a:off x="6949440" y="3749040"/>
            <a:ext cx="4754880" cy="1234440"/>
          </a:xfrm>
          <a:prstGeom prst="roundRect">
            <a:avLst>
              <a:gd name="adj" fmla="val 13333"/>
            </a:avLst>
          </a:prstGeom>
          <a:solidFill>
            <a:srgbClr val="059669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9" name="anim_05_56"/>
          <p:cNvSpPr txBox="1"/>
          <p:nvPr/>
        </p:nvSpPr>
        <p:spPr>
          <a:xfrm>
            <a:off x="7178040" y="39319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30" name="anim_05_57"/>
          <p:cNvSpPr/>
          <p:nvPr/>
        </p:nvSpPr>
        <p:spPr>
          <a:xfrm>
            <a:off x="8321040" y="3977640"/>
            <a:ext cx="0" cy="77724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anim_05_58"/>
          <p:cNvSpPr txBox="1"/>
          <p:nvPr/>
        </p:nvSpPr>
        <p:spPr>
          <a:xfrm>
            <a:off x="850392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Untimed</a:t>
            </a:r>
            <a:endParaRPr lang="en-US" sz="2200" dirty="0"/>
          </a:p>
        </p:txBody>
      </p:sp>
      <p:sp>
        <p:nvSpPr>
          <p:cNvPr id="32" name="anim_05_59"/>
          <p:cNvSpPr txBox="1"/>
          <p:nvPr/>
        </p:nvSpPr>
        <p:spPr>
          <a:xfrm>
            <a:off x="8503920" y="4297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Interests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Feasibility</a:t>
            </a:r>
            <a:endParaRPr lang="en-US" sz="1600" dirty="0"/>
          </a:p>
        </p:txBody>
      </p:sp>
      <p:sp>
        <p:nvSpPr>
          <p:cNvPr id="33" name="anim_06_60"/>
          <p:cNvSpPr/>
          <p:nvPr/>
        </p:nvSpPr>
        <p:spPr>
          <a:xfrm>
            <a:off x="6949440" y="5166360"/>
            <a:ext cx="4754880" cy="1234440"/>
          </a:xfrm>
          <a:prstGeom prst="roundRect">
            <a:avLst>
              <a:gd name="adj" fmla="val 13333"/>
            </a:avLst>
          </a:prstGeom>
          <a:solidFill>
            <a:srgbClr val="EA580C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4" name="anim_06_61"/>
          <p:cNvSpPr txBox="1"/>
          <p:nvPr/>
        </p:nvSpPr>
        <p:spPr>
          <a:xfrm>
            <a:off x="7178040" y="53492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35" name="anim_06_62"/>
          <p:cNvSpPr/>
          <p:nvPr/>
        </p:nvSpPr>
        <p:spPr>
          <a:xfrm>
            <a:off x="8321040" y="5394960"/>
            <a:ext cx="0" cy="77724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6" name="anim_06_63"/>
          <p:cNvSpPr txBox="1"/>
          <p:nvPr/>
        </p:nvSpPr>
        <p:spPr>
          <a:xfrm>
            <a:off x="8503920" y="52760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2200" dirty="0"/>
          </a:p>
        </p:txBody>
      </p:sp>
      <p:sp>
        <p:nvSpPr>
          <p:cNvPr id="37" name="anim_06_64"/>
          <p:cNvSpPr txBox="1"/>
          <p:nvPr/>
        </p:nvSpPr>
        <p:spPr>
          <a:xfrm>
            <a:off x="8503920" y="5715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 timed question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0 and auto-advances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65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4800" dirty="0"/>
          </a:p>
        </p:txBody>
      </p:sp>
      <p:sp>
        <p:nvSpPr>
          <p:cNvPr id="3" name="anim_01_66"/>
          <p:cNvSpPr txBox="1"/>
          <p:nvPr/>
        </p:nvSpPr>
        <p:spPr>
          <a:xfrm>
            <a:off x="548640" y="1371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signals that guide personalised decisions.</a:t>
            </a:r>
            <a:endParaRPr lang="en-US" sz="2000" dirty="0"/>
          </a:p>
        </p:txBody>
      </p:sp>
      <p:sp>
        <p:nvSpPr>
          <p:cNvPr id="4" name="anim_02_67"/>
          <p:cNvSpPr/>
          <p:nvPr/>
        </p:nvSpPr>
        <p:spPr>
          <a:xfrm>
            <a:off x="548640" y="2194560"/>
            <a:ext cx="4572000" cy="96012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68"/>
          <p:cNvSpPr txBox="1"/>
          <p:nvPr/>
        </p:nvSpPr>
        <p:spPr>
          <a:xfrm>
            <a:off x="77724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FIT</a:t>
            </a:r>
            <a:endParaRPr lang="en-US" sz="1500" dirty="0"/>
          </a:p>
        </p:txBody>
      </p:sp>
      <p:sp>
        <p:nvSpPr>
          <p:cNvPr id="6" name="anim_02_69"/>
          <p:cNvSpPr txBox="1"/>
          <p:nvPr/>
        </p:nvSpPr>
        <p:spPr>
          <a:xfrm>
            <a:off x="777240" y="2606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options align with strengths and preferences.</a:t>
            </a:r>
            <a:endParaRPr lang="en-US" sz="1400" dirty="0"/>
          </a:p>
        </p:txBody>
      </p:sp>
      <p:sp>
        <p:nvSpPr>
          <p:cNvPr id="7" name="anim_03_70"/>
          <p:cNvSpPr/>
          <p:nvPr/>
        </p:nvSpPr>
        <p:spPr>
          <a:xfrm>
            <a:off x="548640" y="3273552"/>
            <a:ext cx="4572000" cy="96012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8" name="anim_03_71"/>
          <p:cNvSpPr txBox="1"/>
          <p:nvPr/>
        </p:nvSpPr>
        <p:spPr>
          <a:xfrm>
            <a:off x="777240" y="3364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FEASIBILITY</a:t>
            </a:r>
            <a:endParaRPr lang="en-US" sz="1500" dirty="0"/>
          </a:p>
        </p:txBody>
      </p:sp>
      <p:sp>
        <p:nvSpPr>
          <p:cNvPr id="9" name="anim_03_72"/>
          <p:cNvSpPr txBox="1"/>
          <p:nvPr/>
        </p:nvSpPr>
        <p:spPr>
          <a:xfrm>
            <a:off x="777240" y="36850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Practicality based on time, resources and constraints.</a:t>
            </a:r>
            <a:endParaRPr lang="en-US" sz="1400" dirty="0"/>
          </a:p>
        </p:txBody>
      </p:sp>
      <p:sp>
        <p:nvSpPr>
          <p:cNvPr id="10" name="anim_04_73"/>
          <p:cNvSpPr/>
          <p:nvPr/>
        </p:nvSpPr>
        <p:spPr>
          <a:xfrm>
            <a:off x="548640" y="4352544"/>
            <a:ext cx="4572000" cy="96012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1" name="anim_04_74"/>
          <p:cNvSpPr txBox="1"/>
          <p:nvPr/>
        </p:nvSpPr>
        <p:spPr>
          <a:xfrm>
            <a:off x="777240" y="44439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500" dirty="0"/>
          </a:p>
        </p:txBody>
      </p:sp>
      <p:sp>
        <p:nvSpPr>
          <p:cNvPr id="12" name="anim_04_75"/>
          <p:cNvSpPr txBox="1"/>
          <p:nvPr/>
        </p:nvSpPr>
        <p:spPr>
          <a:xfrm>
            <a:off x="777240" y="47640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momentum in relevant pathways.</a:t>
            </a:r>
            <a:endParaRPr lang="en-US" sz="1400" dirty="0"/>
          </a:p>
        </p:txBody>
      </p:sp>
      <p:sp>
        <p:nvSpPr>
          <p:cNvPr id="13" name="anim_05_76"/>
          <p:cNvSpPr/>
          <p:nvPr/>
        </p:nvSpPr>
        <p:spPr>
          <a:xfrm>
            <a:off x="548640" y="5431536"/>
            <a:ext cx="4572000" cy="96012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4" name="anim_05_77"/>
          <p:cNvSpPr txBox="1"/>
          <p:nvPr/>
        </p:nvSpPr>
        <p:spPr>
          <a:xfrm>
            <a:off x="777240" y="55229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INDEX</a:t>
            </a:r>
            <a:endParaRPr lang="en-US" sz="1500" dirty="0"/>
          </a:p>
        </p:txBody>
      </p:sp>
      <p:sp>
        <p:nvSpPr>
          <p:cNvPr id="15" name="anim_05_78"/>
          <p:cNvSpPr txBox="1"/>
          <p:nvPr/>
        </p:nvSpPr>
        <p:spPr>
          <a:xfrm>
            <a:off x="777240" y="58430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clashes that may impact the path forward.</a:t>
            </a:r>
            <a:endParaRPr lang="en-US" sz="1400" dirty="0"/>
          </a:p>
        </p:txBody>
      </p:sp>
      <p:sp>
        <p:nvSpPr>
          <p:cNvPr id="16" name="anim_06_79"/>
          <p:cNvSpPr/>
          <p:nvPr/>
        </p:nvSpPr>
        <p:spPr>
          <a:xfrm>
            <a:off x="6766560" y="2194560"/>
            <a:ext cx="3840480" cy="3840480"/>
          </a:xfrm>
          <a:prstGeom prst="diamond">
            <a:avLst/>
          </a:prstGeom>
          <a:solidFill>
            <a:srgbClr val="FFFFFF">
              <a:alpha val="7000"/>
            </a:srgbClr>
          </a:solidFill>
          <a:ln w="25400">
            <a:solidFill>
              <a:srgbClr val="67E8F9">
                <a:alpha val="80000"/>
              </a:srgbClr>
            </a:solidFill>
            <a:prstDash val="solid"/>
          </a:ln>
        </p:spPr>
      </p:sp>
      <p:sp>
        <p:nvSpPr>
          <p:cNvPr id="17" name="anim_06_80"/>
          <p:cNvSpPr/>
          <p:nvPr/>
        </p:nvSpPr>
        <p:spPr>
          <a:xfrm>
            <a:off x="7150608" y="2578608"/>
            <a:ext cx="3072384" cy="3072384"/>
          </a:xfrm>
          <a:prstGeom prst="diamond">
            <a:avLst/>
          </a:prstGeom>
          <a:solidFill>
            <a:srgbClr val="FFFFFF">
              <a:alpha val="0"/>
            </a:srgbClr>
          </a:solidFill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18" name="anim_06_81"/>
          <p:cNvSpPr/>
          <p:nvPr/>
        </p:nvSpPr>
        <p:spPr>
          <a:xfrm>
            <a:off x="7534656" y="2962656"/>
            <a:ext cx="2304288" cy="2304288"/>
          </a:xfrm>
          <a:prstGeom prst="diamond">
            <a:avLst/>
          </a:prstGeom>
          <a:solidFill>
            <a:srgbClr val="FFFFFF">
              <a:alpha val="0"/>
            </a:srgbClr>
          </a:solidFill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19" name="anim_06_82"/>
          <p:cNvSpPr/>
          <p:nvPr/>
        </p:nvSpPr>
        <p:spPr>
          <a:xfrm>
            <a:off x="7918704" y="3346704"/>
            <a:ext cx="1536192" cy="1536192"/>
          </a:xfrm>
          <a:prstGeom prst="diamond">
            <a:avLst/>
          </a:prstGeom>
          <a:solidFill>
            <a:srgbClr val="FFFFFF">
              <a:alpha val="0"/>
            </a:srgbClr>
          </a:solidFill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20" name="anim_06_83"/>
          <p:cNvSpPr/>
          <p:nvPr/>
        </p:nvSpPr>
        <p:spPr>
          <a:xfrm>
            <a:off x="8302752" y="3730752"/>
            <a:ext cx="768096" cy="768096"/>
          </a:xfrm>
          <a:prstGeom prst="diamond">
            <a:avLst/>
          </a:prstGeom>
          <a:solidFill>
            <a:srgbClr val="FFFFFF">
              <a:alpha val="0"/>
            </a:srgbClr>
          </a:solidFill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21" name="anim_06_84"/>
          <p:cNvSpPr/>
          <p:nvPr/>
        </p:nvSpPr>
        <p:spPr>
          <a:xfrm>
            <a:off x="6766560" y="4114800"/>
            <a:ext cx="3840480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22" name="anim_06_85"/>
          <p:cNvSpPr/>
          <p:nvPr/>
        </p:nvSpPr>
        <p:spPr>
          <a:xfrm>
            <a:off x="8686800" y="2194560"/>
            <a:ext cx="0" cy="384048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23" name="anim_07_86"/>
          <p:cNvSpPr/>
          <p:nvPr/>
        </p:nvSpPr>
        <p:spPr>
          <a:xfrm>
            <a:off x="7189013" y="2578608"/>
            <a:ext cx="2995574" cy="2918765"/>
          </a:xfrm>
          <a:custGeom>
            <a:avLst/>
            <a:gdLst/>
            <a:ahLst/>
            <a:cxnLst/>
            <a:rect l="l" t="t" r="r" b="b"/>
            <a:pathLst>
              <a:path w="2995574" h="2918765">
                <a:moveTo>
                  <a:pt x="1497787" y="0"/>
                </a:moveTo>
                <a:lnTo>
                  <a:pt x="2995574" y="1536192"/>
                </a:lnTo>
                <a:lnTo>
                  <a:pt x="1497787" y="2918765"/>
                </a:lnTo>
                <a:lnTo>
                  <a:pt x="0" y="1536192"/>
                </a:lnTo>
                <a:close/>
              </a:path>
            </a:pathLst>
          </a:custGeom>
          <a:solidFill>
            <a:srgbClr val="A78BFA">
              <a:alpha val="55000"/>
            </a:srgbClr>
          </a:solidFill>
          <a:ln w="38100">
            <a:solidFill>
              <a:srgbClr val="E9D5FF"/>
            </a:solidFill>
            <a:prstDash val="solid"/>
          </a:ln>
        </p:spPr>
      </p:sp>
      <p:sp>
        <p:nvSpPr>
          <p:cNvPr id="24" name="anim_08_87"/>
          <p:cNvSpPr/>
          <p:nvPr/>
        </p:nvSpPr>
        <p:spPr>
          <a:xfrm>
            <a:off x="8595360" y="2487168"/>
            <a:ext cx="182880" cy="182880"/>
          </a:xfrm>
          <a:prstGeom prst="ellipse">
            <a:avLst/>
          </a:prstGeom>
          <a:solidFill>
            <a:srgbClr val="F0A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anim_08_88"/>
          <p:cNvSpPr/>
          <p:nvPr/>
        </p:nvSpPr>
        <p:spPr>
          <a:xfrm>
            <a:off x="10093147" y="4023360"/>
            <a:ext cx="182880" cy="182880"/>
          </a:xfrm>
          <a:prstGeom prst="ellipse">
            <a:avLst/>
          </a:prstGeom>
          <a:solidFill>
            <a:srgbClr val="F0A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anim_08_89"/>
          <p:cNvSpPr/>
          <p:nvPr/>
        </p:nvSpPr>
        <p:spPr>
          <a:xfrm>
            <a:off x="8595360" y="5405933"/>
            <a:ext cx="182880" cy="182880"/>
          </a:xfrm>
          <a:prstGeom prst="ellipse">
            <a:avLst/>
          </a:prstGeom>
          <a:solidFill>
            <a:srgbClr val="F0A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anim_08_90"/>
          <p:cNvSpPr/>
          <p:nvPr/>
        </p:nvSpPr>
        <p:spPr>
          <a:xfrm>
            <a:off x="7097573" y="4023360"/>
            <a:ext cx="182880" cy="182880"/>
          </a:xfrm>
          <a:prstGeom prst="ellipse">
            <a:avLst/>
          </a:prstGeom>
          <a:solidFill>
            <a:srgbClr val="F0A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anim_06_91"/>
          <p:cNvSpPr txBox="1"/>
          <p:nvPr/>
        </p:nvSpPr>
        <p:spPr>
          <a:xfrm>
            <a:off x="73152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FIT</a:t>
            </a:r>
            <a:endParaRPr lang="en-US" sz="1600" dirty="0"/>
          </a:p>
        </p:txBody>
      </p:sp>
      <p:sp>
        <p:nvSpPr>
          <p:cNvPr id="29" name="anim_06_92"/>
          <p:cNvSpPr txBox="1"/>
          <p:nvPr/>
        </p:nvSpPr>
        <p:spPr>
          <a:xfrm>
            <a:off x="7315200" y="6172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INDEX</a:t>
            </a:r>
            <a:endParaRPr lang="en-US" sz="1600" dirty="0"/>
          </a:p>
        </p:txBody>
      </p:sp>
      <p:sp>
        <p:nvSpPr>
          <p:cNvPr id="30" name="anim_06_93"/>
          <p:cNvSpPr txBox="1"/>
          <p:nvPr/>
        </p:nvSpPr>
        <p:spPr>
          <a:xfrm>
            <a:off x="5166360" y="3794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500" dirty="0"/>
          </a:p>
          <a:p>
            <a:pPr algn="r"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500" dirty="0"/>
          </a:p>
        </p:txBody>
      </p:sp>
      <p:sp>
        <p:nvSpPr>
          <p:cNvPr id="31" name="anim_06_94"/>
          <p:cNvSpPr txBox="1"/>
          <p:nvPr/>
        </p:nvSpPr>
        <p:spPr>
          <a:xfrm>
            <a:off x="1069848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95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4800" dirty="0"/>
          </a:p>
        </p:txBody>
      </p:sp>
      <p:sp>
        <p:nvSpPr>
          <p:cNvPr id="3" name="anim_01_96"/>
          <p:cNvSpPr/>
          <p:nvPr/>
        </p:nvSpPr>
        <p:spPr>
          <a:xfrm>
            <a:off x="548640" y="1737360"/>
            <a:ext cx="5212080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4" name="anim_01_97"/>
          <p:cNvSpPr/>
          <p:nvPr/>
        </p:nvSpPr>
        <p:spPr>
          <a:xfrm>
            <a:off x="548640" y="1737360"/>
            <a:ext cx="1097280" cy="137160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anim_01_98"/>
          <p:cNvSpPr txBox="1"/>
          <p:nvPr/>
        </p:nvSpPr>
        <p:spPr>
          <a:xfrm>
            <a:off x="548640" y="173736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anim_01_99"/>
          <p:cNvSpPr txBox="1"/>
          <p:nvPr/>
        </p:nvSpPr>
        <p:spPr>
          <a:xfrm>
            <a:off x="182880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 output</a:t>
            </a:r>
            <a:endParaRPr lang="en-US" sz="1900" dirty="0"/>
          </a:p>
        </p:txBody>
      </p:sp>
      <p:sp>
        <p:nvSpPr>
          <p:cNvPr id="7" name="anim_01_100"/>
          <p:cNvSpPr txBox="1"/>
          <p:nvPr/>
        </p:nvSpPr>
        <p:spPr>
          <a:xfrm>
            <a:off x="1828800" y="23042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generates clear, actionable predictions.</a:t>
            </a:r>
            <a:endParaRPr lang="en-US" sz="1600" dirty="0"/>
          </a:p>
        </p:txBody>
      </p:sp>
      <p:sp>
        <p:nvSpPr>
          <p:cNvPr id="8" name="anim_02_101"/>
          <p:cNvSpPr/>
          <p:nvPr/>
        </p:nvSpPr>
        <p:spPr>
          <a:xfrm>
            <a:off x="548640" y="3291840"/>
            <a:ext cx="5212080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9" name="anim_02_102"/>
          <p:cNvSpPr/>
          <p:nvPr/>
        </p:nvSpPr>
        <p:spPr>
          <a:xfrm>
            <a:off x="548640" y="3291840"/>
            <a:ext cx="1097280" cy="137160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anim_02_103"/>
          <p:cNvSpPr txBox="1"/>
          <p:nvPr/>
        </p:nvSpPr>
        <p:spPr>
          <a:xfrm>
            <a:off x="548640" y="329184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anim_02_104"/>
          <p:cNvSpPr txBox="1"/>
          <p:nvPr/>
        </p:nvSpPr>
        <p:spPr>
          <a:xfrm>
            <a:off x="1828800" y="3429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Downloadable result</a:t>
            </a:r>
            <a:endParaRPr lang="en-US" sz="1900" dirty="0"/>
          </a:p>
        </p:txBody>
      </p:sp>
      <p:sp>
        <p:nvSpPr>
          <p:cNvPr id="12" name="anim_02_105"/>
          <p:cNvSpPr txBox="1"/>
          <p:nvPr/>
        </p:nvSpPr>
        <p:spPr>
          <a:xfrm>
            <a:off x="1828800" y="38587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download their personalised results instantly.</a:t>
            </a:r>
            <a:endParaRPr lang="en-US" sz="1600" dirty="0"/>
          </a:p>
        </p:txBody>
      </p:sp>
      <p:sp>
        <p:nvSpPr>
          <p:cNvPr id="13" name="anim_03_106"/>
          <p:cNvSpPr/>
          <p:nvPr/>
        </p:nvSpPr>
        <p:spPr>
          <a:xfrm>
            <a:off x="548640" y="4846320"/>
            <a:ext cx="5212080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4" name="anim_03_107"/>
          <p:cNvSpPr/>
          <p:nvPr/>
        </p:nvSpPr>
        <p:spPr>
          <a:xfrm>
            <a:off x="548640" y="4846320"/>
            <a:ext cx="1097280" cy="1371600"/>
          </a:xfrm>
          <a:prstGeom prst="roundRect">
            <a:avLst>
              <a:gd name="adj" fmla="val 15000"/>
            </a:avLst>
          </a:prstGeom>
          <a:solidFill>
            <a:srgbClr val="EA580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anim_03_108"/>
          <p:cNvSpPr txBox="1"/>
          <p:nvPr/>
        </p:nvSpPr>
        <p:spPr>
          <a:xfrm>
            <a:off x="548640" y="484632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anim_03_109"/>
          <p:cNvSpPr txBox="1"/>
          <p:nvPr/>
        </p:nvSpPr>
        <p:spPr>
          <a:xfrm>
            <a:off x="1828800" y="4983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Excellent-score celebration</a:t>
            </a:r>
            <a:endParaRPr lang="en-US" sz="1900" dirty="0"/>
          </a:p>
        </p:txBody>
      </p:sp>
      <p:sp>
        <p:nvSpPr>
          <p:cNvPr id="17" name="anim_03_110"/>
          <p:cNvSpPr txBox="1"/>
          <p:nvPr/>
        </p:nvSpPr>
        <p:spPr>
          <a:xfrm>
            <a:off x="1828800" y="54132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achievers are celebrated with a confetti success state.</a:t>
            </a:r>
            <a:endParaRPr lang="en-US" sz="1600" dirty="0"/>
          </a:p>
        </p:txBody>
      </p:sp>
      <p:sp>
        <p:nvSpPr>
          <p:cNvPr id="18" name="anim_04_111"/>
          <p:cNvSpPr/>
          <p:nvPr/>
        </p:nvSpPr>
        <p:spPr>
          <a:xfrm>
            <a:off x="6080760" y="1828800"/>
            <a:ext cx="5577840" cy="3108960"/>
          </a:xfrm>
          <a:prstGeom prst="roundRect">
            <a:avLst>
              <a:gd name="adj" fmla="val 5294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pic>
        <p:nvPicPr>
          <p:cNvPr id="19" name="anim_04_112" descr="img/p-0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65960"/>
            <a:ext cx="5303520" cy="2743200"/>
          </a:xfrm>
          <a:prstGeom prst="rect">
            <a:avLst/>
          </a:prstGeom>
        </p:spPr>
      </p:pic>
      <p:sp>
        <p:nvSpPr>
          <p:cNvPr id="20" name="anim_05_113"/>
          <p:cNvSpPr/>
          <p:nvPr/>
        </p:nvSpPr>
        <p:spPr>
          <a:xfrm rot="3120000">
            <a:off x="5943926" y="6014051"/>
            <a:ext cx="146304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anim_06_114"/>
          <p:cNvSpPr/>
          <p:nvPr/>
        </p:nvSpPr>
        <p:spPr>
          <a:xfrm rot="2580000">
            <a:off x="9723222" y="5386364"/>
            <a:ext cx="146304" cy="2743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2" name="anim_07_115"/>
          <p:cNvSpPr/>
          <p:nvPr/>
        </p:nvSpPr>
        <p:spPr>
          <a:xfrm rot="7380000">
            <a:off x="10092504" y="782412"/>
            <a:ext cx="146304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anim_08_116"/>
          <p:cNvSpPr/>
          <p:nvPr/>
        </p:nvSpPr>
        <p:spPr>
          <a:xfrm rot="8700000">
            <a:off x="8724585" y="6023932"/>
            <a:ext cx="146304" cy="274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anim_05_117"/>
          <p:cNvSpPr/>
          <p:nvPr/>
        </p:nvSpPr>
        <p:spPr>
          <a:xfrm rot="4020000">
            <a:off x="11364136" y="5939033"/>
            <a:ext cx="146304" cy="274320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25" name="anim_06_118"/>
          <p:cNvSpPr/>
          <p:nvPr/>
        </p:nvSpPr>
        <p:spPr>
          <a:xfrm rot="3540000">
            <a:off x="7937002" y="5509560"/>
            <a:ext cx="146304" cy="274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6" name="anim_07_119"/>
          <p:cNvSpPr/>
          <p:nvPr/>
        </p:nvSpPr>
        <p:spPr>
          <a:xfrm rot="600000">
            <a:off x="10278102" y="5755072"/>
            <a:ext cx="146304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anim_08_120"/>
          <p:cNvSpPr/>
          <p:nvPr/>
        </p:nvSpPr>
        <p:spPr>
          <a:xfrm rot="540000">
            <a:off x="7090417" y="5942869"/>
            <a:ext cx="146304" cy="2743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8" name="anim_05_121"/>
          <p:cNvSpPr/>
          <p:nvPr/>
        </p:nvSpPr>
        <p:spPr>
          <a:xfrm rot="5520000">
            <a:off x="9892653" y="6035676"/>
            <a:ext cx="146304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anim_06_122"/>
          <p:cNvSpPr/>
          <p:nvPr/>
        </p:nvSpPr>
        <p:spPr>
          <a:xfrm rot="4920000">
            <a:off x="7329829" y="5927932"/>
            <a:ext cx="146304" cy="274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0" name="anim_07_123"/>
          <p:cNvSpPr/>
          <p:nvPr/>
        </p:nvSpPr>
        <p:spPr>
          <a:xfrm rot="1140000">
            <a:off x="10667104" y="5753295"/>
            <a:ext cx="146304" cy="274320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31" name="anim_08_124"/>
          <p:cNvSpPr/>
          <p:nvPr/>
        </p:nvSpPr>
        <p:spPr>
          <a:xfrm rot="4380000">
            <a:off x="10812520" y="926303"/>
            <a:ext cx="146304" cy="274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anim_05_125"/>
          <p:cNvSpPr/>
          <p:nvPr/>
        </p:nvSpPr>
        <p:spPr>
          <a:xfrm rot="10740000">
            <a:off x="6856368" y="927233"/>
            <a:ext cx="146304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3" name="anim_06_126"/>
          <p:cNvSpPr/>
          <p:nvPr/>
        </p:nvSpPr>
        <p:spPr>
          <a:xfrm rot="9900000">
            <a:off x="9467655" y="1288799"/>
            <a:ext cx="146304" cy="2743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4" name="anim_07_127"/>
          <p:cNvSpPr/>
          <p:nvPr/>
        </p:nvSpPr>
        <p:spPr>
          <a:xfrm rot="9540000">
            <a:off x="11201103" y="5831853"/>
            <a:ext cx="146304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5" name="anim_08_128"/>
          <p:cNvSpPr/>
          <p:nvPr/>
        </p:nvSpPr>
        <p:spPr>
          <a:xfrm rot="2640000">
            <a:off x="7580596" y="520487"/>
            <a:ext cx="146304" cy="274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6" name="anim_05_129"/>
          <p:cNvSpPr/>
          <p:nvPr/>
        </p:nvSpPr>
        <p:spPr>
          <a:xfrm rot="6660000">
            <a:off x="6395550" y="466758"/>
            <a:ext cx="146304" cy="274320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37" name="anim_06_130"/>
          <p:cNvSpPr/>
          <p:nvPr/>
        </p:nvSpPr>
        <p:spPr>
          <a:xfrm rot="2520000">
            <a:off x="7358465" y="5780630"/>
            <a:ext cx="146304" cy="274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8" name="anim_07_131"/>
          <p:cNvSpPr/>
          <p:nvPr/>
        </p:nvSpPr>
        <p:spPr>
          <a:xfrm rot="1260000">
            <a:off x="8166180" y="5854199"/>
            <a:ext cx="146304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9" name="anim_08_132"/>
          <p:cNvSpPr/>
          <p:nvPr/>
        </p:nvSpPr>
        <p:spPr>
          <a:xfrm rot="9840000">
            <a:off x="8851569" y="475123"/>
            <a:ext cx="146304" cy="2743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0" name="anim_05_133"/>
          <p:cNvSpPr/>
          <p:nvPr/>
        </p:nvSpPr>
        <p:spPr>
          <a:xfrm rot="180000">
            <a:off x="9729271" y="6022213"/>
            <a:ext cx="146304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1" name="anim_06_134"/>
          <p:cNvSpPr/>
          <p:nvPr/>
        </p:nvSpPr>
        <p:spPr>
          <a:xfrm rot="10440000">
            <a:off x="11293154" y="1592596"/>
            <a:ext cx="146304" cy="274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2" name="anim_07_135"/>
          <p:cNvSpPr/>
          <p:nvPr/>
        </p:nvSpPr>
        <p:spPr>
          <a:xfrm rot="1140000">
            <a:off x="8904626" y="654733"/>
            <a:ext cx="146304" cy="274320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43" name="anim_08_136"/>
          <p:cNvSpPr/>
          <p:nvPr/>
        </p:nvSpPr>
        <p:spPr>
          <a:xfrm rot="7380000">
            <a:off x="11405944" y="1246343"/>
            <a:ext cx="146304" cy="274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4" name="anim_05_137"/>
          <p:cNvSpPr/>
          <p:nvPr/>
        </p:nvSpPr>
        <p:spPr>
          <a:xfrm rot="9480000">
            <a:off x="11251371" y="680864"/>
            <a:ext cx="146304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5" name="anim_06_138"/>
          <p:cNvSpPr/>
          <p:nvPr/>
        </p:nvSpPr>
        <p:spPr>
          <a:xfrm rot="10260000">
            <a:off x="11063220" y="6448416"/>
            <a:ext cx="146304" cy="274320"/>
          </a:xfrm>
          <a:prstGeom prst="rect">
            <a:avLst/>
          </a:prstGeom>
          <a:solidFill>
            <a:srgbClr val="F472B6"/>
          </a:solidFill>
          <a:ln/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139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FLOW</a:t>
            </a:r>
            <a:endParaRPr lang="en-US" sz="4800" dirty="0"/>
          </a:p>
        </p:txBody>
      </p:sp>
      <p:sp>
        <p:nvSpPr>
          <p:cNvPr id="3" name="anim_01_140"/>
          <p:cNvSpPr txBox="1"/>
          <p:nvPr/>
        </p:nvSpPr>
        <p:spPr>
          <a:xfrm>
            <a:off x="54864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path from identification to personalised guidance, with a separate admin access.</a:t>
            </a:r>
            <a:endParaRPr lang="en-US" sz="2000" dirty="0"/>
          </a:p>
        </p:txBody>
      </p:sp>
      <p:sp>
        <p:nvSpPr>
          <p:cNvPr id="4" name="anim_02_141"/>
          <p:cNvSpPr txBox="1"/>
          <p:nvPr/>
        </p:nvSpPr>
        <p:spPr>
          <a:xfrm>
            <a:off x="411480" y="2788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JOURNEY</a:t>
            </a:r>
            <a:endParaRPr lang="en-US" sz="1800" dirty="0"/>
          </a:p>
        </p:txBody>
      </p:sp>
      <p:sp>
        <p:nvSpPr>
          <p:cNvPr id="5" name="anim_03_142"/>
          <p:cNvSpPr/>
          <p:nvPr/>
        </p:nvSpPr>
        <p:spPr>
          <a:xfrm>
            <a:off x="411480" y="3200400"/>
            <a:ext cx="1645920" cy="3200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6" name="anim_03_143"/>
          <p:cNvSpPr/>
          <p:nvPr/>
        </p:nvSpPr>
        <p:spPr>
          <a:xfrm>
            <a:off x="411480" y="3200400"/>
            <a:ext cx="1645920" cy="777240"/>
          </a:xfrm>
          <a:prstGeom prst="roundRect">
            <a:avLst>
              <a:gd name="adj" fmla="val 21176"/>
            </a:avLst>
          </a:prstGeom>
          <a:solidFill>
            <a:srgbClr val="7C3AED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anim_03_144"/>
          <p:cNvSpPr txBox="1"/>
          <p:nvPr/>
        </p:nvSpPr>
        <p:spPr>
          <a:xfrm>
            <a:off x="594360" y="3200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anim_03_145"/>
          <p:cNvSpPr txBox="1"/>
          <p:nvPr/>
        </p:nvSpPr>
        <p:spPr>
          <a:xfrm>
            <a:off x="548640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issued</a:t>
            </a:r>
            <a:endParaRPr lang="en-US" sz="1600" dirty="0"/>
          </a:p>
        </p:txBody>
      </p:sp>
      <p:sp>
        <p:nvSpPr>
          <p:cNvPr id="9" name="anim_03_146"/>
          <p:cNvSpPr txBox="1"/>
          <p:nvPr/>
        </p:nvSpPr>
        <p:spPr>
          <a:xfrm>
            <a:off x="548640" y="48006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Applicant ID is generated and shared securely.</a:t>
            </a:r>
            <a:endParaRPr lang="en-US" sz="1400" dirty="0"/>
          </a:p>
        </p:txBody>
      </p:sp>
      <p:sp>
        <p:nvSpPr>
          <p:cNvPr id="10" name="anim_03_147"/>
          <p:cNvSpPr/>
          <p:nvPr/>
        </p:nvSpPr>
        <p:spPr>
          <a:xfrm>
            <a:off x="2075688" y="3584448"/>
            <a:ext cx="210312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11" name="anim_04_148"/>
          <p:cNvSpPr/>
          <p:nvPr/>
        </p:nvSpPr>
        <p:spPr>
          <a:xfrm>
            <a:off x="2304288" y="3200400"/>
            <a:ext cx="1645920" cy="3200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2" name="anim_04_149"/>
          <p:cNvSpPr/>
          <p:nvPr/>
        </p:nvSpPr>
        <p:spPr>
          <a:xfrm>
            <a:off x="2304288" y="3200400"/>
            <a:ext cx="1645920" cy="777240"/>
          </a:xfrm>
          <a:prstGeom prst="roundRect">
            <a:avLst>
              <a:gd name="adj" fmla="val 21176"/>
            </a:avLst>
          </a:prstGeom>
          <a:solidFill>
            <a:srgbClr val="059669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anim_04_150"/>
          <p:cNvSpPr txBox="1"/>
          <p:nvPr/>
        </p:nvSpPr>
        <p:spPr>
          <a:xfrm>
            <a:off x="2487168" y="3200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anim_04_151"/>
          <p:cNvSpPr txBox="1"/>
          <p:nvPr/>
        </p:nvSpPr>
        <p:spPr>
          <a:xfrm>
            <a:off x="2441448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login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ID + DOB</a:t>
            </a:r>
            <a:endParaRPr lang="en-US" sz="1600" dirty="0"/>
          </a:p>
        </p:txBody>
      </p:sp>
      <p:sp>
        <p:nvSpPr>
          <p:cNvPr id="15" name="anim_04_152"/>
          <p:cNvSpPr txBox="1"/>
          <p:nvPr/>
        </p:nvSpPr>
        <p:spPr>
          <a:xfrm>
            <a:off x="2441448" y="48006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Applicant ID and DOB (DDMMYYYY) to sign in.</a:t>
            </a:r>
            <a:endParaRPr lang="en-US" sz="1400" dirty="0"/>
          </a:p>
        </p:txBody>
      </p:sp>
      <p:sp>
        <p:nvSpPr>
          <p:cNvPr id="16" name="anim_04_153"/>
          <p:cNvSpPr/>
          <p:nvPr/>
        </p:nvSpPr>
        <p:spPr>
          <a:xfrm>
            <a:off x="3968496" y="3584448"/>
            <a:ext cx="210312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17" name="anim_05_154"/>
          <p:cNvSpPr/>
          <p:nvPr/>
        </p:nvSpPr>
        <p:spPr>
          <a:xfrm>
            <a:off x="4197096" y="3200400"/>
            <a:ext cx="1645920" cy="3200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8" name="anim_05_155"/>
          <p:cNvSpPr/>
          <p:nvPr/>
        </p:nvSpPr>
        <p:spPr>
          <a:xfrm>
            <a:off x="4197096" y="3200400"/>
            <a:ext cx="1645920" cy="777240"/>
          </a:xfrm>
          <a:prstGeom prst="roundRect">
            <a:avLst>
              <a:gd name="adj" fmla="val 21176"/>
            </a:avLst>
          </a:prstGeom>
          <a:solidFill>
            <a:srgbClr val="EA580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anim_05_156"/>
          <p:cNvSpPr txBox="1"/>
          <p:nvPr/>
        </p:nvSpPr>
        <p:spPr>
          <a:xfrm>
            <a:off x="4379976" y="3200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anim_05_157"/>
          <p:cNvSpPr txBox="1"/>
          <p:nvPr/>
        </p:nvSpPr>
        <p:spPr>
          <a:xfrm>
            <a:off x="4334256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unlocked</a:t>
            </a:r>
            <a:endParaRPr lang="en-US" sz="1600" dirty="0"/>
          </a:p>
        </p:txBody>
      </p:sp>
      <p:sp>
        <p:nvSpPr>
          <p:cNvPr id="21" name="anim_05_158"/>
          <p:cNvSpPr txBox="1"/>
          <p:nvPr/>
        </p:nvSpPr>
        <p:spPr>
          <a:xfrm>
            <a:off x="4334256" y="48006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profile and guidance become available.</a:t>
            </a:r>
            <a:endParaRPr lang="en-US" sz="1400" dirty="0"/>
          </a:p>
        </p:txBody>
      </p:sp>
      <p:sp>
        <p:nvSpPr>
          <p:cNvPr id="22" name="anim_05_159"/>
          <p:cNvSpPr/>
          <p:nvPr/>
        </p:nvSpPr>
        <p:spPr>
          <a:xfrm>
            <a:off x="5861304" y="3584448"/>
            <a:ext cx="210312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23" name="anim_06_160"/>
          <p:cNvSpPr/>
          <p:nvPr/>
        </p:nvSpPr>
        <p:spPr>
          <a:xfrm>
            <a:off x="6089904" y="3200400"/>
            <a:ext cx="1645920" cy="3200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4" name="anim_06_161"/>
          <p:cNvSpPr/>
          <p:nvPr/>
        </p:nvSpPr>
        <p:spPr>
          <a:xfrm>
            <a:off x="6089904" y="3200400"/>
            <a:ext cx="1645920" cy="777240"/>
          </a:xfrm>
          <a:prstGeom prst="roundRect">
            <a:avLst>
              <a:gd name="adj" fmla="val 21176"/>
            </a:avLst>
          </a:prstGeom>
          <a:solidFill>
            <a:srgbClr val="D97706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anim_06_162"/>
          <p:cNvSpPr txBox="1"/>
          <p:nvPr/>
        </p:nvSpPr>
        <p:spPr>
          <a:xfrm>
            <a:off x="6272784" y="3200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anim_06_163"/>
          <p:cNvSpPr txBox="1"/>
          <p:nvPr/>
        </p:nvSpPr>
        <p:spPr>
          <a:xfrm>
            <a:off x="6227064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visible</a:t>
            </a:r>
            <a:endParaRPr lang="en-US" sz="1600" dirty="0"/>
          </a:p>
        </p:txBody>
      </p:sp>
      <p:sp>
        <p:nvSpPr>
          <p:cNvPr id="27" name="anim_06_164"/>
          <p:cNvSpPr txBox="1"/>
          <p:nvPr/>
        </p:nvSpPr>
        <p:spPr>
          <a:xfrm>
            <a:off x="6227064" y="48006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Applicant ID remains visible inside your profile.</a:t>
            </a:r>
            <a:endParaRPr lang="en-US" sz="1400" dirty="0"/>
          </a:p>
        </p:txBody>
      </p:sp>
      <p:sp>
        <p:nvSpPr>
          <p:cNvPr id="28" name="anim_06_165"/>
          <p:cNvSpPr/>
          <p:nvPr/>
        </p:nvSpPr>
        <p:spPr>
          <a:xfrm>
            <a:off x="7754112" y="3584448"/>
            <a:ext cx="210312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29" name="anim_07_166"/>
          <p:cNvSpPr/>
          <p:nvPr/>
        </p:nvSpPr>
        <p:spPr>
          <a:xfrm>
            <a:off x="7982712" y="3200400"/>
            <a:ext cx="1645920" cy="3200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0" name="anim_07_167"/>
          <p:cNvSpPr/>
          <p:nvPr/>
        </p:nvSpPr>
        <p:spPr>
          <a:xfrm>
            <a:off x="7982712" y="3200400"/>
            <a:ext cx="1645920" cy="777240"/>
          </a:xfrm>
          <a:prstGeom prst="roundRect">
            <a:avLst>
              <a:gd name="adj" fmla="val 21176"/>
            </a:avLst>
          </a:prstGeom>
          <a:solidFill>
            <a:srgbClr val="4F46E5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anim_07_168"/>
          <p:cNvSpPr txBox="1"/>
          <p:nvPr/>
        </p:nvSpPr>
        <p:spPr>
          <a:xfrm>
            <a:off x="8165592" y="3200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anim_07_169"/>
          <p:cNvSpPr txBox="1"/>
          <p:nvPr/>
        </p:nvSpPr>
        <p:spPr>
          <a:xfrm>
            <a:off x="8119872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logout</a:t>
            </a:r>
            <a:endParaRPr lang="en-US" sz="1600" dirty="0"/>
          </a:p>
        </p:txBody>
      </p:sp>
      <p:sp>
        <p:nvSpPr>
          <p:cNvPr id="33" name="anim_07_170"/>
          <p:cNvSpPr txBox="1"/>
          <p:nvPr/>
        </p:nvSpPr>
        <p:spPr>
          <a:xfrm>
            <a:off x="8119872" y="48006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session securely when you’re finished.</a:t>
            </a:r>
            <a:endParaRPr lang="en-US" sz="1400" dirty="0"/>
          </a:p>
        </p:txBody>
      </p:sp>
      <p:sp>
        <p:nvSpPr>
          <p:cNvPr id="34" name="anim_08_171"/>
          <p:cNvSpPr/>
          <p:nvPr/>
        </p:nvSpPr>
        <p:spPr>
          <a:xfrm>
            <a:off x="9857232" y="2743200"/>
            <a:ext cx="1920240" cy="3794760"/>
          </a:xfrm>
          <a:prstGeom prst="roundRect">
            <a:avLst>
              <a:gd name="adj" fmla="val 8571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5" name="anim_08_172"/>
          <p:cNvSpPr txBox="1"/>
          <p:nvPr/>
        </p:nvSpPr>
        <p:spPr>
          <a:xfrm>
            <a:off x="9857232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ACCESS</a:t>
            </a:r>
            <a:endParaRPr lang="en-US" sz="1400" dirty="0"/>
          </a:p>
        </p:txBody>
      </p:sp>
      <p:sp>
        <p:nvSpPr>
          <p:cNvPr id="36" name="anim_08_173"/>
          <p:cNvSpPr/>
          <p:nvPr/>
        </p:nvSpPr>
        <p:spPr>
          <a:xfrm>
            <a:off x="9994392" y="3291840"/>
            <a:ext cx="1645920" cy="3200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7" name="anim_08_174"/>
          <p:cNvSpPr/>
          <p:nvPr/>
        </p:nvSpPr>
        <p:spPr>
          <a:xfrm>
            <a:off x="9994392" y="3291840"/>
            <a:ext cx="1645920" cy="777240"/>
          </a:xfrm>
          <a:prstGeom prst="roundRect">
            <a:avLst>
              <a:gd name="adj" fmla="val 21176"/>
            </a:avLst>
          </a:prstGeom>
          <a:solidFill>
            <a:srgbClr val="0891B2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8" name="anim_08_175"/>
          <p:cNvSpPr txBox="1"/>
          <p:nvPr/>
        </p:nvSpPr>
        <p:spPr>
          <a:xfrm>
            <a:off x="10177272" y="32918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3000" dirty="0"/>
          </a:p>
        </p:txBody>
      </p:sp>
      <p:sp>
        <p:nvSpPr>
          <p:cNvPr id="39" name="anim_08_176"/>
          <p:cNvSpPr txBox="1"/>
          <p:nvPr/>
        </p:nvSpPr>
        <p:spPr>
          <a:xfrm>
            <a:off x="10131552" y="4206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600" dirty="0"/>
          </a:p>
        </p:txBody>
      </p:sp>
      <p:sp>
        <p:nvSpPr>
          <p:cNvPr id="40" name="anim_08_177"/>
          <p:cNvSpPr txBox="1"/>
          <p:nvPr/>
        </p:nvSpPr>
        <p:spPr>
          <a:xfrm>
            <a:off x="10131552" y="489204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admin login provides secure system acces.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178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GUIDE</a:t>
            </a:r>
            <a:endParaRPr lang="en-US" sz="4800" dirty="0"/>
          </a:p>
        </p:txBody>
      </p:sp>
      <p:sp>
        <p:nvSpPr>
          <p:cNvPr id="3" name="anim_01_179"/>
          <p:cNvSpPr txBox="1"/>
          <p:nvPr/>
        </p:nvSpPr>
        <p:spPr>
          <a:xfrm>
            <a:off x="548640" y="13716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built-in assistant delivers fast, clear guidance, in the way students choose.</a:t>
            </a:r>
            <a:endParaRPr lang="en-US" sz="2000" dirty="0"/>
          </a:p>
        </p:txBody>
      </p:sp>
      <p:sp>
        <p:nvSpPr>
          <p:cNvPr id="4" name="anim_02_180"/>
          <p:cNvSpPr/>
          <p:nvPr/>
        </p:nvSpPr>
        <p:spPr>
          <a:xfrm>
            <a:off x="548640" y="2834640"/>
            <a:ext cx="5212080" cy="822960"/>
          </a:xfrm>
          <a:prstGeom prst="roundRect">
            <a:avLst>
              <a:gd name="adj" fmla="val 20000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181"/>
          <p:cNvSpPr txBox="1"/>
          <p:nvPr/>
        </p:nvSpPr>
        <p:spPr>
          <a:xfrm>
            <a:off x="77724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ways to ask</a:t>
            </a:r>
            <a:endParaRPr lang="en-US" sz="1700" dirty="0"/>
          </a:p>
        </p:txBody>
      </p:sp>
      <p:sp>
        <p:nvSpPr>
          <p:cNvPr id="6" name="anim_02_182"/>
          <p:cNvSpPr txBox="1"/>
          <p:nvPr/>
        </p:nvSpPr>
        <p:spPr>
          <a:xfrm>
            <a:off x="777240" y="3273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upload, or speak.</a:t>
            </a:r>
            <a:endParaRPr lang="en-US" sz="1400" dirty="0"/>
          </a:p>
        </p:txBody>
      </p:sp>
      <p:sp>
        <p:nvSpPr>
          <p:cNvPr id="7" name="anim_03_183"/>
          <p:cNvSpPr/>
          <p:nvPr/>
        </p:nvSpPr>
        <p:spPr>
          <a:xfrm>
            <a:off x="548640" y="3767328"/>
            <a:ext cx="5212080" cy="822960"/>
          </a:xfrm>
          <a:prstGeom prst="roundRect">
            <a:avLst>
              <a:gd name="adj" fmla="val 20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8" name="anim_03_184"/>
          <p:cNvSpPr txBox="1"/>
          <p:nvPr/>
        </p:nvSpPr>
        <p:spPr>
          <a:xfrm>
            <a:off x="77724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 by default</a:t>
            </a:r>
            <a:endParaRPr lang="en-US" sz="1700" dirty="0"/>
          </a:p>
        </p:txBody>
      </p:sp>
      <p:sp>
        <p:nvSpPr>
          <p:cNvPr id="9" name="anim_03_185"/>
          <p:cNvSpPr txBox="1"/>
          <p:nvPr/>
        </p:nvSpPr>
        <p:spPr>
          <a:xfrm>
            <a:off x="77724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 and next steps.</a:t>
            </a:r>
            <a:endParaRPr lang="en-US" sz="1400" dirty="0"/>
          </a:p>
        </p:txBody>
      </p:sp>
      <p:sp>
        <p:nvSpPr>
          <p:cNvPr id="10" name="anim_04_186"/>
          <p:cNvSpPr/>
          <p:nvPr/>
        </p:nvSpPr>
        <p:spPr>
          <a:xfrm>
            <a:off x="548640" y="4700016"/>
            <a:ext cx="5212080" cy="822960"/>
          </a:xfrm>
          <a:prstGeom prst="roundRect">
            <a:avLst>
              <a:gd name="adj" fmla="val 20000"/>
            </a:avLst>
          </a:prstGeom>
          <a:solidFill>
            <a:srgbClr val="EA580C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1" name="anim_04_187"/>
          <p:cNvSpPr txBox="1"/>
          <p:nvPr/>
        </p:nvSpPr>
        <p:spPr>
          <a:xfrm>
            <a:off x="777240" y="47914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action</a:t>
            </a:r>
            <a:endParaRPr lang="en-US" sz="1700" dirty="0"/>
          </a:p>
        </p:txBody>
      </p:sp>
      <p:sp>
        <p:nvSpPr>
          <p:cNvPr id="12" name="anim_04_188"/>
          <p:cNvSpPr txBox="1"/>
          <p:nvPr/>
        </p:nvSpPr>
        <p:spPr>
          <a:xfrm>
            <a:off x="777240" y="51389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refine, and regenerate with ease.</a:t>
            </a:r>
            <a:endParaRPr lang="en-US" sz="1400" dirty="0"/>
          </a:p>
        </p:txBody>
      </p:sp>
      <p:sp>
        <p:nvSpPr>
          <p:cNvPr id="13" name="anim_05_189"/>
          <p:cNvSpPr/>
          <p:nvPr/>
        </p:nvSpPr>
        <p:spPr>
          <a:xfrm>
            <a:off x="548640" y="5632704"/>
            <a:ext cx="5212080" cy="822960"/>
          </a:xfrm>
          <a:prstGeom prst="roundRect">
            <a:avLst>
              <a:gd name="adj" fmla="val 20000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4" name="anim_05_190"/>
          <p:cNvSpPr txBox="1"/>
          <p:nvPr/>
        </p:nvSpPr>
        <p:spPr>
          <a:xfrm>
            <a:off x="777240" y="57241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and trustworthy</a:t>
            </a:r>
            <a:endParaRPr lang="en-US" sz="1700" dirty="0"/>
          </a:p>
        </p:txBody>
      </p:sp>
      <p:sp>
        <p:nvSpPr>
          <p:cNvPr id="15" name="anim_05_191"/>
          <p:cNvSpPr txBox="1"/>
          <p:nvPr/>
        </p:nvSpPr>
        <p:spPr>
          <a:xfrm>
            <a:off x="777240" y="60716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you can review, copy, and learn from.</a:t>
            </a:r>
            <a:endParaRPr lang="en-US" sz="1400" dirty="0"/>
          </a:p>
        </p:txBody>
      </p:sp>
      <p:sp>
        <p:nvSpPr>
          <p:cNvPr id="16" name="anim_06_192"/>
          <p:cNvSpPr/>
          <p:nvPr/>
        </p:nvSpPr>
        <p:spPr>
          <a:xfrm>
            <a:off x="6126480" y="1097280"/>
            <a:ext cx="146304" cy="14630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anim_06_193"/>
          <p:cNvSpPr/>
          <p:nvPr/>
        </p:nvSpPr>
        <p:spPr>
          <a:xfrm>
            <a:off x="6199632" y="1170432"/>
            <a:ext cx="274320" cy="1645920"/>
          </a:xfrm>
          <a:prstGeom prst="line">
            <a:avLst/>
          </a:prstGeom>
          <a:noFill/>
          <a:ln w="12700">
            <a:solidFill>
              <a:srgbClr val="67E8F9">
                <a:alpha val="45000"/>
              </a:srgbClr>
            </a:solidFill>
            <a:prstDash val="solid"/>
          </a:ln>
        </p:spPr>
      </p:sp>
      <p:sp>
        <p:nvSpPr>
          <p:cNvPr id="18" name="anim_06_194"/>
          <p:cNvSpPr/>
          <p:nvPr/>
        </p:nvSpPr>
        <p:spPr>
          <a:xfrm>
            <a:off x="6400800" y="2743200"/>
            <a:ext cx="146304" cy="146304"/>
          </a:xfrm>
          <a:prstGeom prst="ellipse">
            <a:avLst/>
          </a:prstGeom>
          <a:solidFill>
            <a:srgbClr val="F0ABFC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anim_06_195"/>
          <p:cNvSpPr/>
          <p:nvPr/>
        </p:nvSpPr>
        <p:spPr>
          <a:xfrm>
            <a:off x="6473952" y="2816352"/>
            <a:ext cx="-365760" cy="1828800"/>
          </a:xfrm>
          <a:prstGeom prst="line">
            <a:avLst/>
          </a:prstGeom>
          <a:noFill/>
          <a:ln w="12700">
            <a:solidFill>
              <a:srgbClr val="67E8F9">
                <a:alpha val="45000"/>
              </a:srgbClr>
            </a:solidFill>
            <a:prstDash val="solid"/>
          </a:ln>
        </p:spPr>
      </p:sp>
      <p:sp>
        <p:nvSpPr>
          <p:cNvPr id="20" name="anim_06_196"/>
          <p:cNvSpPr/>
          <p:nvPr/>
        </p:nvSpPr>
        <p:spPr>
          <a:xfrm>
            <a:off x="6035040" y="4572000"/>
            <a:ext cx="146304" cy="14630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anim_06_197"/>
          <p:cNvSpPr/>
          <p:nvPr/>
        </p:nvSpPr>
        <p:spPr>
          <a:xfrm>
            <a:off x="6108192" y="4645152"/>
            <a:ext cx="457200" cy="1371600"/>
          </a:xfrm>
          <a:prstGeom prst="line">
            <a:avLst/>
          </a:prstGeom>
          <a:noFill/>
          <a:ln w="12700">
            <a:solidFill>
              <a:srgbClr val="67E8F9">
                <a:alpha val="45000"/>
              </a:srgbClr>
            </a:solidFill>
            <a:prstDash val="solid"/>
          </a:ln>
        </p:spPr>
      </p:sp>
      <p:sp>
        <p:nvSpPr>
          <p:cNvPr id="22" name="anim_06_198"/>
          <p:cNvSpPr/>
          <p:nvPr/>
        </p:nvSpPr>
        <p:spPr>
          <a:xfrm>
            <a:off x="6492240" y="5943600"/>
            <a:ext cx="146304" cy="146304"/>
          </a:xfrm>
          <a:prstGeom prst="ellipse">
            <a:avLst/>
          </a:prstGeom>
          <a:solidFill>
            <a:srgbClr val="F0ABFC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anim_06_199"/>
          <p:cNvSpPr/>
          <p:nvPr/>
        </p:nvSpPr>
        <p:spPr>
          <a:xfrm>
            <a:off x="11841480" y="1828800"/>
            <a:ext cx="146304" cy="14630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anim_06_200"/>
          <p:cNvSpPr/>
          <p:nvPr/>
        </p:nvSpPr>
        <p:spPr>
          <a:xfrm>
            <a:off x="11795760" y="5029200"/>
            <a:ext cx="146304" cy="146304"/>
          </a:xfrm>
          <a:prstGeom prst="ellipse">
            <a:avLst/>
          </a:prstGeom>
          <a:solidFill>
            <a:srgbClr val="F0ABFC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anim_07_201"/>
          <p:cNvSpPr/>
          <p:nvPr/>
        </p:nvSpPr>
        <p:spPr>
          <a:xfrm>
            <a:off x="7040880" y="457200"/>
            <a:ext cx="4572000" cy="5943600"/>
          </a:xfrm>
          <a:prstGeom prst="roundRect">
            <a:avLst>
              <a:gd name="adj" fmla="val 3600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pic>
        <p:nvPicPr>
          <p:cNvPr id="26" name="anim_07_202" descr="img/p-0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85800"/>
            <a:ext cx="4023360" cy="54589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203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INTERACTION</a:t>
            </a:r>
            <a:endParaRPr lang="en-US" sz="4800" dirty="0"/>
          </a:p>
        </p:txBody>
      </p:sp>
      <p:sp>
        <p:nvSpPr>
          <p:cNvPr id="3" name="anim_01_204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interface that feels consistent,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and effortless across 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context.</a:t>
            </a:r>
            <a:endParaRPr lang="en-US" sz="2000" dirty="0"/>
          </a:p>
        </p:txBody>
      </p:sp>
      <p:sp>
        <p:nvSpPr>
          <p:cNvPr id="4" name="anim_02_205"/>
          <p:cNvSpPr/>
          <p:nvPr/>
        </p:nvSpPr>
        <p:spPr>
          <a:xfrm>
            <a:off x="548640" y="2423160"/>
            <a:ext cx="4846320" cy="914400"/>
          </a:xfrm>
          <a:prstGeom prst="roundRect">
            <a:avLst>
              <a:gd name="adj" fmla="val 1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206"/>
          <p:cNvSpPr txBox="1"/>
          <p:nvPr/>
        </p:nvSpPr>
        <p:spPr>
          <a:xfrm>
            <a:off x="731520" y="2496312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BY DESIGN</a:t>
            </a:r>
            <a:endParaRPr lang="en-US" sz="1400" dirty="0"/>
          </a:p>
        </p:txBody>
      </p:sp>
      <p:sp>
        <p:nvSpPr>
          <p:cNvPr id="6" name="anim_02_207"/>
          <p:cNvSpPr txBox="1"/>
          <p:nvPr/>
        </p:nvSpPr>
        <p:spPr>
          <a:xfrm>
            <a:off x="731520" y="28072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experience, perfectly tuned from mobile to dual-screen.</a:t>
            </a:r>
            <a:endParaRPr lang="en-US" sz="1400" dirty="0"/>
          </a:p>
        </p:txBody>
      </p:sp>
      <p:sp>
        <p:nvSpPr>
          <p:cNvPr id="7" name="anim_03_208"/>
          <p:cNvSpPr/>
          <p:nvPr/>
        </p:nvSpPr>
        <p:spPr>
          <a:xfrm>
            <a:off x="548640" y="3456432"/>
            <a:ext cx="4846320" cy="914400"/>
          </a:xfrm>
          <a:prstGeom prst="roundRect">
            <a:avLst>
              <a:gd name="adj" fmla="val 1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8" name="anim_03_209"/>
          <p:cNvSpPr txBox="1"/>
          <p:nvPr/>
        </p:nvSpPr>
        <p:spPr>
          <a:xfrm>
            <a:off x="731520" y="3529584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 IN EVERY STATE</a:t>
            </a:r>
            <a:endParaRPr lang="en-US" sz="1400" dirty="0"/>
          </a:p>
        </p:txBody>
      </p:sp>
      <p:sp>
        <p:nvSpPr>
          <p:cNvPr id="9" name="anim_03_210"/>
          <p:cNvSpPr txBox="1"/>
          <p:nvPr/>
        </p:nvSpPr>
        <p:spPr>
          <a:xfrm>
            <a:off x="731520" y="38404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Thoughtful loading, empty, success, error and confirmation states.</a:t>
            </a:r>
            <a:endParaRPr lang="en-US" sz="1400" dirty="0"/>
          </a:p>
        </p:txBody>
      </p:sp>
      <p:sp>
        <p:nvSpPr>
          <p:cNvPr id="10" name="anim_04_211"/>
          <p:cNvSpPr/>
          <p:nvPr/>
        </p:nvSpPr>
        <p:spPr>
          <a:xfrm>
            <a:off x="548640" y="4489704"/>
            <a:ext cx="4846320" cy="914400"/>
          </a:xfrm>
          <a:prstGeom prst="roundRect">
            <a:avLst>
              <a:gd name="adj" fmla="val 1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1" name="anim_04_212"/>
          <p:cNvSpPr txBox="1"/>
          <p:nvPr/>
        </p:nvSpPr>
        <p:spPr>
          <a:xfrm>
            <a:off x="731520" y="4562856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&amp; REFINED</a:t>
            </a:r>
            <a:endParaRPr lang="en-US" sz="1400" dirty="0"/>
          </a:p>
        </p:txBody>
      </p:sp>
      <p:sp>
        <p:nvSpPr>
          <p:cNvPr id="12" name="anim_04_213"/>
          <p:cNvSpPr txBox="1"/>
          <p:nvPr/>
        </p:nvSpPr>
        <p:spPr>
          <a:xfrm>
            <a:off x="731520" y="487375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transitions and microinteractions that guide without distraction.</a:t>
            </a:r>
            <a:endParaRPr lang="en-US" sz="1400" dirty="0"/>
          </a:p>
        </p:txBody>
      </p:sp>
      <p:sp>
        <p:nvSpPr>
          <p:cNvPr id="13" name="anim_05_214"/>
          <p:cNvSpPr/>
          <p:nvPr/>
        </p:nvSpPr>
        <p:spPr>
          <a:xfrm>
            <a:off x="548640" y="5522976"/>
            <a:ext cx="4846320" cy="914400"/>
          </a:xfrm>
          <a:prstGeom prst="roundRect">
            <a:avLst>
              <a:gd name="adj" fmla="val 1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4" name="anim_05_215"/>
          <p:cNvSpPr txBox="1"/>
          <p:nvPr/>
        </p:nvSpPr>
        <p:spPr>
          <a:xfrm>
            <a:off x="731520" y="5596128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OR DARK</a:t>
            </a:r>
            <a:endParaRPr lang="en-US" sz="1400" dirty="0"/>
          </a:p>
        </p:txBody>
      </p:sp>
      <p:sp>
        <p:nvSpPr>
          <p:cNvPr id="15" name="anim_05_216"/>
          <p:cNvSpPr txBox="1"/>
          <p:nvPr/>
        </p:nvSpPr>
        <p:spPr>
          <a:xfrm>
            <a:off x="731520" y="590702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theming to match any environment and reduce fatigue.</a:t>
            </a:r>
            <a:endParaRPr lang="en-US" sz="1400" dirty="0"/>
          </a:p>
        </p:txBody>
      </p:sp>
      <p:sp>
        <p:nvSpPr>
          <p:cNvPr id="16" name="anim_06_217"/>
          <p:cNvSpPr/>
          <p:nvPr/>
        </p:nvSpPr>
        <p:spPr>
          <a:xfrm>
            <a:off x="5577840" y="1828800"/>
            <a:ext cx="6309360" cy="4480560"/>
          </a:xfrm>
          <a:prstGeom prst="roundRect">
            <a:avLst>
              <a:gd name="adj" fmla="val 3673"/>
            </a:avLst>
          </a:prstGeom>
          <a:solidFill>
            <a:srgbClr val="60A5FA">
              <a:alpha val="1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pic>
        <p:nvPicPr>
          <p:cNvPr id="17" name="anim_06_218" descr="img/s8_devi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20240"/>
            <a:ext cx="6126480" cy="4279392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219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</a:t>
            </a:r>
            <a:endParaRPr lang="en-US" sz="4800" dirty="0"/>
          </a:p>
        </p:txBody>
      </p:sp>
      <p:sp>
        <p:nvSpPr>
          <p:cNvPr id="3" name="anim_01_220"/>
          <p:cNvSpPr txBox="1"/>
          <p:nvPr/>
        </p:nvSpPr>
        <p:spPr>
          <a:xfrm>
            <a:off x="548640" y="1371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responses move through PRISM from input to guidance.</a:t>
            </a:r>
            <a:endParaRPr lang="en-US" sz="2000" dirty="0"/>
          </a:p>
        </p:txBody>
      </p:sp>
      <p:sp>
        <p:nvSpPr>
          <p:cNvPr id="4" name="anim_02_221"/>
          <p:cNvSpPr/>
          <p:nvPr/>
        </p:nvSpPr>
        <p:spPr>
          <a:xfrm>
            <a:off x="457200" y="2286000"/>
            <a:ext cx="1691640" cy="2697480"/>
          </a:xfrm>
          <a:prstGeom prst="roundRect">
            <a:avLst>
              <a:gd name="adj" fmla="val 9730"/>
            </a:avLst>
          </a:prstGeom>
          <a:solidFill>
            <a:srgbClr val="7C3AED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222"/>
          <p:cNvSpPr txBox="1"/>
          <p:nvPr/>
        </p:nvSpPr>
        <p:spPr>
          <a:xfrm>
            <a:off x="64008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anim_02_223"/>
          <p:cNvSpPr txBox="1"/>
          <p:nvPr/>
        </p:nvSpPr>
        <p:spPr>
          <a:xfrm>
            <a:off x="640080" y="3063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600" dirty="0"/>
          </a:p>
        </p:txBody>
      </p:sp>
      <p:sp>
        <p:nvSpPr>
          <p:cNvPr id="7" name="anim_02_224"/>
          <p:cNvSpPr txBox="1"/>
          <p:nvPr/>
        </p:nvSpPr>
        <p:spPr>
          <a:xfrm>
            <a:off x="640080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answer structured questions.</a:t>
            </a:r>
            <a:endParaRPr lang="en-US" sz="1400" dirty="0"/>
          </a:p>
        </p:txBody>
      </p:sp>
      <p:sp>
        <p:nvSpPr>
          <p:cNvPr id="8" name="anim_02_225"/>
          <p:cNvSpPr/>
          <p:nvPr/>
        </p:nvSpPr>
        <p:spPr>
          <a:xfrm>
            <a:off x="2167128" y="3383280"/>
            <a:ext cx="18288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9" name="anim_08_226"/>
          <p:cNvSpPr/>
          <p:nvPr/>
        </p:nvSpPr>
        <p:spPr>
          <a:xfrm>
            <a:off x="1303020" y="498348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0" name="anim_03_227"/>
          <p:cNvSpPr/>
          <p:nvPr/>
        </p:nvSpPr>
        <p:spPr>
          <a:xfrm>
            <a:off x="2368296" y="2286000"/>
            <a:ext cx="1691640" cy="2697480"/>
          </a:xfrm>
          <a:prstGeom prst="roundRect">
            <a:avLst>
              <a:gd name="adj" fmla="val 9730"/>
            </a:avLst>
          </a:prstGeom>
          <a:solidFill>
            <a:srgbClr val="059669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1" name="anim_03_228"/>
          <p:cNvSpPr txBox="1"/>
          <p:nvPr/>
        </p:nvSpPr>
        <p:spPr>
          <a:xfrm>
            <a:off x="2551176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anim_03_229"/>
          <p:cNvSpPr txBox="1"/>
          <p:nvPr/>
        </p:nvSpPr>
        <p:spPr>
          <a:xfrm>
            <a:off x="2551176" y="3063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Scoring</a:t>
            </a:r>
            <a:endParaRPr lang="en-US" sz="1600" dirty="0"/>
          </a:p>
        </p:txBody>
      </p:sp>
      <p:sp>
        <p:nvSpPr>
          <p:cNvPr id="13" name="anim_03_230"/>
          <p:cNvSpPr txBox="1"/>
          <p:nvPr/>
        </p:nvSpPr>
        <p:spPr>
          <a:xfrm>
            <a:off x="2551176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are evaluated and scored.</a:t>
            </a:r>
            <a:endParaRPr lang="en-US" sz="1400" dirty="0"/>
          </a:p>
        </p:txBody>
      </p:sp>
      <p:sp>
        <p:nvSpPr>
          <p:cNvPr id="14" name="anim_03_231"/>
          <p:cNvSpPr/>
          <p:nvPr/>
        </p:nvSpPr>
        <p:spPr>
          <a:xfrm>
            <a:off x="4078224" y="3383280"/>
            <a:ext cx="18288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15" name="anim_08_232"/>
          <p:cNvSpPr/>
          <p:nvPr/>
        </p:nvSpPr>
        <p:spPr>
          <a:xfrm>
            <a:off x="3214116" y="498348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6" name="anim_04_233"/>
          <p:cNvSpPr/>
          <p:nvPr/>
        </p:nvSpPr>
        <p:spPr>
          <a:xfrm>
            <a:off x="4279392" y="2286000"/>
            <a:ext cx="1691640" cy="2697480"/>
          </a:xfrm>
          <a:prstGeom prst="roundRect">
            <a:avLst>
              <a:gd name="adj" fmla="val 9730"/>
            </a:avLst>
          </a:prstGeom>
          <a:solidFill>
            <a:srgbClr val="EA580C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7" name="anim_04_234"/>
          <p:cNvSpPr txBox="1"/>
          <p:nvPr/>
        </p:nvSpPr>
        <p:spPr>
          <a:xfrm>
            <a:off x="4462272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anim_04_235"/>
          <p:cNvSpPr txBox="1"/>
          <p:nvPr/>
        </p:nvSpPr>
        <p:spPr>
          <a:xfrm>
            <a:off x="4462272" y="3063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Radar</a:t>
            </a:r>
            <a:endParaRPr lang="en-US" sz="1600" dirty="0"/>
          </a:p>
        </p:txBody>
      </p:sp>
      <p:sp>
        <p:nvSpPr>
          <p:cNvPr id="19" name="anim_04_236"/>
          <p:cNvSpPr txBox="1"/>
          <p:nvPr/>
        </p:nvSpPr>
        <p:spPr>
          <a:xfrm>
            <a:off x="4462272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are analysed and visualised.</a:t>
            </a:r>
            <a:endParaRPr lang="en-US" sz="1400" dirty="0"/>
          </a:p>
        </p:txBody>
      </p:sp>
      <p:sp>
        <p:nvSpPr>
          <p:cNvPr id="20" name="anim_04_237"/>
          <p:cNvSpPr/>
          <p:nvPr/>
        </p:nvSpPr>
        <p:spPr>
          <a:xfrm>
            <a:off x="5989320" y="3383280"/>
            <a:ext cx="18288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21" name="anim_08_238"/>
          <p:cNvSpPr/>
          <p:nvPr/>
        </p:nvSpPr>
        <p:spPr>
          <a:xfrm>
            <a:off x="5125212" y="498348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2" name="anim_05_239"/>
          <p:cNvSpPr/>
          <p:nvPr/>
        </p:nvSpPr>
        <p:spPr>
          <a:xfrm>
            <a:off x="6190488" y="2286000"/>
            <a:ext cx="1691640" cy="2697480"/>
          </a:xfrm>
          <a:prstGeom prst="roundRect">
            <a:avLst>
              <a:gd name="adj" fmla="val 9730"/>
            </a:avLst>
          </a:prstGeom>
          <a:solidFill>
            <a:srgbClr val="D97706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3" name="anim_05_240"/>
          <p:cNvSpPr txBox="1"/>
          <p:nvPr/>
        </p:nvSpPr>
        <p:spPr>
          <a:xfrm>
            <a:off x="6373368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anim_05_241"/>
          <p:cNvSpPr txBox="1"/>
          <p:nvPr/>
        </p:nvSpPr>
        <p:spPr>
          <a:xfrm>
            <a:off x="6373368" y="3063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5" name="anim_05_242"/>
          <p:cNvSpPr txBox="1"/>
          <p:nvPr/>
        </p:nvSpPr>
        <p:spPr>
          <a:xfrm>
            <a:off x="6373368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predicts best-fit paths and outcomes.</a:t>
            </a:r>
            <a:endParaRPr lang="en-US" sz="1400" dirty="0"/>
          </a:p>
        </p:txBody>
      </p:sp>
      <p:sp>
        <p:nvSpPr>
          <p:cNvPr id="26" name="anim_05_243"/>
          <p:cNvSpPr/>
          <p:nvPr/>
        </p:nvSpPr>
        <p:spPr>
          <a:xfrm>
            <a:off x="7900416" y="3383280"/>
            <a:ext cx="18288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27" name="anim_08_244"/>
          <p:cNvSpPr/>
          <p:nvPr/>
        </p:nvSpPr>
        <p:spPr>
          <a:xfrm>
            <a:off x="7036308" y="498348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8" name="anim_06_245"/>
          <p:cNvSpPr/>
          <p:nvPr/>
        </p:nvSpPr>
        <p:spPr>
          <a:xfrm>
            <a:off x="8101584" y="2286000"/>
            <a:ext cx="1691640" cy="2697480"/>
          </a:xfrm>
          <a:prstGeom prst="roundRect">
            <a:avLst>
              <a:gd name="adj" fmla="val 9730"/>
            </a:avLst>
          </a:prstGeom>
          <a:solidFill>
            <a:srgbClr val="4F46E5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9" name="anim_06_246"/>
          <p:cNvSpPr txBox="1"/>
          <p:nvPr/>
        </p:nvSpPr>
        <p:spPr>
          <a:xfrm>
            <a:off x="8284464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30" name="anim_06_247"/>
          <p:cNvSpPr txBox="1"/>
          <p:nvPr/>
        </p:nvSpPr>
        <p:spPr>
          <a:xfrm>
            <a:off x="8284464" y="3063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Profile</a:t>
            </a:r>
            <a:endParaRPr lang="en-US" sz="1600" dirty="0"/>
          </a:p>
        </p:txBody>
      </p:sp>
      <p:sp>
        <p:nvSpPr>
          <p:cNvPr id="31" name="anim_06_248"/>
          <p:cNvSpPr txBox="1"/>
          <p:nvPr/>
        </p:nvSpPr>
        <p:spPr>
          <a:xfrm>
            <a:off x="8284464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a clear, personalised profile.</a:t>
            </a:r>
            <a:endParaRPr lang="en-US" sz="1400" dirty="0"/>
          </a:p>
        </p:txBody>
      </p:sp>
      <p:sp>
        <p:nvSpPr>
          <p:cNvPr id="32" name="anim_06_249"/>
          <p:cNvSpPr/>
          <p:nvPr/>
        </p:nvSpPr>
        <p:spPr>
          <a:xfrm>
            <a:off x="9811512" y="3383280"/>
            <a:ext cx="18288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33" name="anim_08_250"/>
          <p:cNvSpPr/>
          <p:nvPr/>
        </p:nvSpPr>
        <p:spPr>
          <a:xfrm>
            <a:off x="8947404" y="498348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anim_07_251"/>
          <p:cNvSpPr/>
          <p:nvPr/>
        </p:nvSpPr>
        <p:spPr>
          <a:xfrm>
            <a:off x="10012680" y="2286000"/>
            <a:ext cx="1691640" cy="2697480"/>
          </a:xfrm>
          <a:prstGeom prst="roundRect">
            <a:avLst>
              <a:gd name="adj" fmla="val 9730"/>
            </a:avLst>
          </a:prstGeom>
          <a:solidFill>
            <a:srgbClr val="0891B2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5" name="anim_07_252"/>
          <p:cNvSpPr txBox="1"/>
          <p:nvPr/>
        </p:nvSpPr>
        <p:spPr>
          <a:xfrm>
            <a:off x="1019556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200" dirty="0"/>
          </a:p>
        </p:txBody>
      </p:sp>
      <p:sp>
        <p:nvSpPr>
          <p:cNvPr id="36" name="anim_07_253"/>
          <p:cNvSpPr txBox="1"/>
          <p:nvPr/>
        </p:nvSpPr>
        <p:spPr>
          <a:xfrm>
            <a:off x="10195560" y="3063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600" dirty="0"/>
          </a:p>
        </p:txBody>
      </p:sp>
      <p:sp>
        <p:nvSpPr>
          <p:cNvPr id="37" name="anim_07_254"/>
          <p:cNvSpPr txBox="1"/>
          <p:nvPr/>
        </p:nvSpPr>
        <p:spPr>
          <a:xfrm>
            <a:off x="10195560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and next steps are tailored by the AI.</a:t>
            </a:r>
            <a:endParaRPr lang="en-US" sz="1400" dirty="0"/>
          </a:p>
        </p:txBody>
      </p:sp>
      <p:sp>
        <p:nvSpPr>
          <p:cNvPr id="38" name="anim_08_255"/>
          <p:cNvSpPr/>
          <p:nvPr/>
        </p:nvSpPr>
        <p:spPr>
          <a:xfrm>
            <a:off x="10858500" y="498348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anim_08_256"/>
          <p:cNvSpPr/>
          <p:nvPr/>
        </p:nvSpPr>
        <p:spPr>
          <a:xfrm>
            <a:off x="1303020" y="5349240"/>
            <a:ext cx="955548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anim_08_257"/>
          <p:cNvSpPr/>
          <p:nvPr/>
        </p:nvSpPr>
        <p:spPr>
          <a:xfrm>
            <a:off x="6080760" y="534924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41" name="anim_08_258"/>
          <p:cNvSpPr/>
          <p:nvPr/>
        </p:nvSpPr>
        <p:spPr>
          <a:xfrm>
            <a:off x="457200" y="5760720"/>
            <a:ext cx="11247120" cy="731520"/>
          </a:xfrm>
          <a:prstGeom prst="roundRect">
            <a:avLst>
              <a:gd name="adj" fmla="val 22500"/>
            </a:avLst>
          </a:prstGeom>
          <a:solidFill>
            <a:srgbClr val="FBBF24">
              <a:alpha val="14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42" name="anim_08_259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Persistence</a:t>
            </a:r>
            <a:endParaRPr lang="en-US" sz="1700" dirty="0"/>
          </a:p>
        </p:txBody>
      </p:sp>
      <p:sp>
        <p:nvSpPr>
          <p:cNvPr id="43" name="anim_08_260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 keeps progress and responses stored on device.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261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4800" dirty="0"/>
          </a:p>
        </p:txBody>
      </p:sp>
      <p:sp>
        <p:nvSpPr>
          <p:cNvPr id="3" name="anim_01_262"/>
          <p:cNvSpPr txBox="1"/>
          <p:nvPr/>
        </p:nvSpPr>
        <p:spPr>
          <a:xfrm>
            <a:off x="548640" y="1737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400" dirty="0"/>
          </a:p>
        </p:txBody>
      </p:sp>
      <p:sp>
        <p:nvSpPr>
          <p:cNvPr id="4" name="anim_01_263"/>
          <p:cNvSpPr txBox="1"/>
          <p:nvPr/>
        </p:nvSpPr>
        <p:spPr>
          <a:xfrm>
            <a:off x="2011680" y="1737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</a:t>
            </a:r>
            <a:endParaRPr lang="en-US" sz="2800" dirty="0"/>
          </a:p>
        </p:txBody>
      </p:sp>
      <p:sp>
        <p:nvSpPr>
          <p:cNvPr id="5" name="anim_02_264"/>
          <p:cNvSpPr txBox="1"/>
          <p:nvPr/>
        </p:nvSpPr>
        <p:spPr>
          <a:xfrm>
            <a:off x="548640" y="32918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400" dirty="0"/>
          </a:p>
        </p:txBody>
      </p:sp>
      <p:sp>
        <p:nvSpPr>
          <p:cNvPr id="6" name="anim_02_265"/>
          <p:cNvSpPr txBox="1"/>
          <p:nvPr/>
        </p:nvSpPr>
        <p:spPr>
          <a:xfrm>
            <a:off x="2011680" y="3291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2800" dirty="0"/>
          </a:p>
        </p:txBody>
      </p:sp>
      <p:sp>
        <p:nvSpPr>
          <p:cNvPr id="7" name="anim_03_266"/>
          <p:cNvSpPr txBox="1"/>
          <p:nvPr/>
        </p:nvSpPr>
        <p:spPr>
          <a:xfrm>
            <a:off x="548640" y="48463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400" dirty="0"/>
          </a:p>
        </p:txBody>
      </p:sp>
      <p:sp>
        <p:nvSpPr>
          <p:cNvPr id="8" name="anim_03_267"/>
          <p:cNvSpPr txBox="1"/>
          <p:nvPr/>
        </p:nvSpPr>
        <p:spPr>
          <a:xfrm>
            <a:off x="2011680" y="4846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flow</a:t>
            </a:r>
            <a:endParaRPr lang="en-US" sz="2800" dirty="0"/>
          </a:p>
        </p:txBody>
      </p:sp>
      <p:sp>
        <p:nvSpPr>
          <p:cNvPr id="9" name="anim_04_268"/>
          <p:cNvSpPr/>
          <p:nvPr/>
        </p:nvSpPr>
        <p:spPr>
          <a:xfrm>
            <a:off x="6217920" y="1508760"/>
            <a:ext cx="4937760" cy="4937760"/>
          </a:xfrm>
          <a:prstGeom prst="blockArc">
            <a:avLst>
              <a:gd name="adj1" fmla="val 10920000"/>
              <a:gd name="adj2" fmla="val 16080000"/>
              <a:gd name="adj3" fmla="val 25000"/>
            </a:avLst>
          </a:prstGeom>
          <a:solidFill>
            <a:srgbClr val="7C3AED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0000"/>
              </a:srgbClr>
            </a:outerShdw>
          </a:effectLst>
        </p:spPr>
      </p:sp>
      <p:sp>
        <p:nvSpPr>
          <p:cNvPr id="10" name="anim_04_269"/>
          <p:cNvSpPr txBox="1"/>
          <p:nvPr/>
        </p:nvSpPr>
        <p:spPr>
          <a:xfrm>
            <a:off x="6524963" y="218156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2000" dirty="0"/>
          </a:p>
        </p:txBody>
      </p:sp>
      <p:sp>
        <p:nvSpPr>
          <p:cNvPr id="11" name="anim_04_270"/>
          <p:cNvSpPr txBox="1"/>
          <p:nvPr/>
        </p:nvSpPr>
        <p:spPr>
          <a:xfrm>
            <a:off x="6524963" y="2574755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clear, structured responses.</a:t>
            </a:r>
            <a:endParaRPr lang="en-US" sz="1400" dirty="0"/>
          </a:p>
        </p:txBody>
      </p:sp>
      <p:sp>
        <p:nvSpPr>
          <p:cNvPr id="12" name="anim_05_271"/>
          <p:cNvSpPr/>
          <p:nvPr/>
        </p:nvSpPr>
        <p:spPr>
          <a:xfrm>
            <a:off x="6217920" y="1508760"/>
            <a:ext cx="4937760" cy="4937760"/>
          </a:xfrm>
          <a:prstGeom prst="blockArc">
            <a:avLst>
              <a:gd name="adj1" fmla="val 16320000"/>
              <a:gd name="adj2" fmla="val 21480000"/>
              <a:gd name="adj3" fmla="val 25000"/>
            </a:avLst>
          </a:prstGeom>
          <a:solidFill>
            <a:srgbClr val="059669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0000"/>
              </a:srgbClr>
            </a:outerShdw>
          </a:effectLst>
        </p:spPr>
      </p:sp>
      <p:sp>
        <p:nvSpPr>
          <p:cNvPr id="13" name="anim_05_272"/>
          <p:cNvSpPr txBox="1"/>
          <p:nvPr/>
        </p:nvSpPr>
        <p:spPr>
          <a:xfrm>
            <a:off x="9111277" y="218156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2000" dirty="0"/>
          </a:p>
        </p:txBody>
      </p:sp>
      <p:sp>
        <p:nvSpPr>
          <p:cNvPr id="14" name="anim_05_273"/>
          <p:cNvSpPr txBox="1"/>
          <p:nvPr/>
        </p:nvSpPr>
        <p:spPr>
          <a:xfrm>
            <a:off x="9111277" y="2574755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strengths, preferences and patterns.</a:t>
            </a:r>
            <a:endParaRPr lang="en-US" sz="1400" dirty="0"/>
          </a:p>
        </p:txBody>
      </p:sp>
      <p:sp>
        <p:nvSpPr>
          <p:cNvPr id="15" name="anim_06_274"/>
          <p:cNvSpPr/>
          <p:nvPr/>
        </p:nvSpPr>
        <p:spPr>
          <a:xfrm>
            <a:off x="6217920" y="1508760"/>
            <a:ext cx="4937760" cy="4937760"/>
          </a:xfrm>
          <a:prstGeom prst="blockArc">
            <a:avLst>
              <a:gd name="adj1" fmla="val 120000"/>
              <a:gd name="adj2" fmla="val 5280000"/>
              <a:gd name="adj3" fmla="val 25000"/>
            </a:avLst>
          </a:prstGeom>
          <a:solidFill>
            <a:srgbClr val="EA580C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0000"/>
              </a:srgbClr>
            </a:outerShdw>
          </a:effectLst>
        </p:spPr>
      </p:sp>
      <p:sp>
        <p:nvSpPr>
          <p:cNvPr id="16" name="anim_06_275"/>
          <p:cNvSpPr txBox="1"/>
          <p:nvPr/>
        </p:nvSpPr>
        <p:spPr>
          <a:xfrm>
            <a:off x="9111277" y="4767877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2000" dirty="0"/>
          </a:p>
        </p:txBody>
      </p:sp>
      <p:sp>
        <p:nvSpPr>
          <p:cNvPr id="17" name="anim_06_276"/>
          <p:cNvSpPr txBox="1"/>
          <p:nvPr/>
        </p:nvSpPr>
        <p:spPr>
          <a:xfrm>
            <a:off x="9111277" y="5161069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best-fit paths and future outcomes.</a:t>
            </a:r>
            <a:endParaRPr lang="en-US" sz="1400" dirty="0"/>
          </a:p>
        </p:txBody>
      </p:sp>
      <p:sp>
        <p:nvSpPr>
          <p:cNvPr id="18" name="anim_07_277"/>
          <p:cNvSpPr/>
          <p:nvPr/>
        </p:nvSpPr>
        <p:spPr>
          <a:xfrm>
            <a:off x="6217920" y="1508760"/>
            <a:ext cx="4937760" cy="4937760"/>
          </a:xfrm>
          <a:prstGeom prst="blockArc">
            <a:avLst>
              <a:gd name="adj1" fmla="val 5520000"/>
              <a:gd name="adj2" fmla="val 10680000"/>
              <a:gd name="adj3" fmla="val 25000"/>
            </a:avLst>
          </a:prstGeom>
          <a:solidFill>
            <a:srgbClr val="D97706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0000"/>
              </a:srgbClr>
            </a:outerShdw>
          </a:effectLst>
        </p:spPr>
      </p:sp>
      <p:sp>
        <p:nvSpPr>
          <p:cNvPr id="19" name="anim_07_278"/>
          <p:cNvSpPr txBox="1"/>
          <p:nvPr/>
        </p:nvSpPr>
        <p:spPr>
          <a:xfrm>
            <a:off x="6524963" y="4767877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2000" dirty="0"/>
          </a:p>
        </p:txBody>
      </p:sp>
      <p:sp>
        <p:nvSpPr>
          <p:cNvPr id="20" name="anim_07_279"/>
          <p:cNvSpPr txBox="1"/>
          <p:nvPr/>
        </p:nvSpPr>
        <p:spPr>
          <a:xfrm>
            <a:off x="6524963" y="5161069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personalised guidance and next steps.</a:t>
            </a:r>
            <a:endParaRPr lang="en-US" sz="1400" dirty="0"/>
          </a:p>
        </p:txBody>
      </p:sp>
      <p:sp>
        <p:nvSpPr>
          <p:cNvPr id="21" name="anim_08_280"/>
          <p:cNvSpPr/>
          <p:nvPr/>
        </p:nvSpPr>
        <p:spPr>
          <a:xfrm>
            <a:off x="8138160" y="342900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67E8F9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8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JOB OPPORTUNITIES</a:t>
            </a:r>
            <a:endParaRPr lang="en-US" sz="4000" dirty="0"/>
          </a:p>
        </p:txBody>
      </p:sp>
      <p:sp>
        <p:nvSpPr>
          <p:cNvPr id="3" name="anim_01_9"/>
          <p:cNvSpPr txBox="1"/>
          <p:nvPr/>
        </p:nvSpPr>
        <p:spPr>
          <a:xfrm>
            <a:off x="548640" y="13716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hiring data from Naukri, Foundit and Adzuna powers the Market Opportunity signal.</a:t>
            </a:r>
            <a:endParaRPr lang="en-US" sz="2200" dirty="0"/>
          </a:p>
        </p:txBody>
      </p:sp>
      <p:sp>
        <p:nvSpPr>
          <p:cNvPr id="4" name="anim_02_10"/>
          <p:cNvSpPr/>
          <p:nvPr/>
        </p:nvSpPr>
        <p:spPr>
          <a:xfrm>
            <a:off x="521208" y="2651760"/>
            <a:ext cx="2377440" cy="3566160"/>
          </a:xfrm>
          <a:prstGeom prst="roundRect">
            <a:avLst>
              <a:gd name="adj" fmla="val 6923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11"/>
          <p:cNvSpPr txBox="1"/>
          <p:nvPr/>
        </p:nvSpPr>
        <p:spPr>
          <a:xfrm>
            <a:off x="74980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000" dirty="0"/>
          </a:p>
        </p:txBody>
      </p:sp>
      <p:sp>
        <p:nvSpPr>
          <p:cNvPr id="6" name="anim_02_12"/>
          <p:cNvSpPr txBox="1"/>
          <p:nvPr/>
        </p:nvSpPr>
        <p:spPr>
          <a:xfrm>
            <a:off x="749808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2100" dirty="0"/>
          </a:p>
        </p:txBody>
      </p:sp>
      <p:sp>
        <p:nvSpPr>
          <p:cNvPr id="7" name="anim_02_13"/>
          <p:cNvSpPr txBox="1"/>
          <p:nvPr/>
        </p:nvSpPr>
        <p:spPr>
          <a:xfrm>
            <a:off x="749808" y="44805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 and Foundit listings supply roles, skills, salary ranges and city-wise demand.</a:t>
            </a:r>
            <a:endParaRPr lang="en-US" sz="1600" dirty="0"/>
          </a:p>
        </p:txBody>
      </p:sp>
      <p:sp>
        <p:nvSpPr>
          <p:cNvPr id="8" name="anim_02_14"/>
          <p:cNvSpPr/>
          <p:nvPr/>
        </p:nvSpPr>
        <p:spPr>
          <a:xfrm>
            <a:off x="2944368" y="4434840"/>
            <a:ext cx="45720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9" name="anim_03_15"/>
          <p:cNvSpPr/>
          <p:nvPr/>
        </p:nvSpPr>
        <p:spPr>
          <a:xfrm>
            <a:off x="3447288" y="2651760"/>
            <a:ext cx="2377440" cy="3566160"/>
          </a:xfrm>
          <a:prstGeom prst="roundRect">
            <a:avLst>
              <a:gd name="adj" fmla="val 6923"/>
            </a:avLst>
          </a:prstGeom>
          <a:solidFill>
            <a:srgbClr val="059669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0" name="anim_03_16"/>
          <p:cNvSpPr txBox="1"/>
          <p:nvPr/>
        </p:nvSpPr>
        <p:spPr>
          <a:xfrm>
            <a:off x="367588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000" dirty="0"/>
          </a:p>
        </p:txBody>
      </p:sp>
      <p:sp>
        <p:nvSpPr>
          <p:cNvPr id="11" name="anim_03_17"/>
          <p:cNvSpPr txBox="1"/>
          <p:nvPr/>
        </p:nvSpPr>
        <p:spPr>
          <a:xfrm>
            <a:off x="3675888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Feed</a:t>
            </a:r>
            <a:endParaRPr lang="en-US" sz="2100" dirty="0"/>
          </a:p>
        </p:txBody>
      </p:sp>
      <p:sp>
        <p:nvSpPr>
          <p:cNvPr id="12" name="anim_03_18"/>
          <p:cNvSpPr txBox="1"/>
          <p:nvPr/>
        </p:nvSpPr>
        <p:spPr>
          <a:xfrm>
            <a:off x="3675888" y="44805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Adzuna API streams real-time openings, fetched fresh for every student search.</a:t>
            </a:r>
            <a:endParaRPr lang="en-US" sz="1600" dirty="0"/>
          </a:p>
        </p:txBody>
      </p:sp>
      <p:sp>
        <p:nvSpPr>
          <p:cNvPr id="13" name="anim_03_19"/>
          <p:cNvSpPr/>
          <p:nvPr/>
        </p:nvSpPr>
        <p:spPr>
          <a:xfrm>
            <a:off x="5870448" y="4434840"/>
            <a:ext cx="45720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14" name="anim_04_20"/>
          <p:cNvSpPr/>
          <p:nvPr/>
        </p:nvSpPr>
        <p:spPr>
          <a:xfrm>
            <a:off x="6373368" y="2651760"/>
            <a:ext cx="2377440" cy="3566160"/>
          </a:xfrm>
          <a:prstGeom prst="roundRect">
            <a:avLst>
              <a:gd name="adj" fmla="val 6923"/>
            </a:avLst>
          </a:prstGeom>
          <a:solidFill>
            <a:srgbClr val="DB2777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5" name="anim_04_21"/>
          <p:cNvSpPr txBox="1"/>
          <p:nvPr/>
        </p:nvSpPr>
        <p:spPr>
          <a:xfrm>
            <a:off x="660196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000" dirty="0"/>
          </a:p>
        </p:txBody>
      </p:sp>
      <p:sp>
        <p:nvSpPr>
          <p:cNvPr id="16" name="anim_04_22"/>
          <p:cNvSpPr txBox="1"/>
          <p:nvPr/>
        </p:nvSpPr>
        <p:spPr>
          <a:xfrm>
            <a:off x="6601968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2100" dirty="0"/>
          </a:p>
        </p:txBody>
      </p:sp>
      <p:sp>
        <p:nvSpPr>
          <p:cNvPr id="17" name="anim_04_23"/>
          <p:cNvSpPr txBox="1"/>
          <p:nvPr/>
        </p:nvSpPr>
        <p:spPr>
          <a:xfrm>
            <a:off x="6601968" y="44805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cleans and normalizes the data, then matches jobs to the student profile.</a:t>
            </a:r>
            <a:endParaRPr lang="en-US" sz="1600" dirty="0"/>
          </a:p>
        </p:txBody>
      </p:sp>
      <p:sp>
        <p:nvSpPr>
          <p:cNvPr id="18" name="anim_04_24"/>
          <p:cNvSpPr/>
          <p:nvPr/>
        </p:nvSpPr>
        <p:spPr>
          <a:xfrm>
            <a:off x="8796528" y="4434840"/>
            <a:ext cx="45720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19" name="anim_05_25"/>
          <p:cNvSpPr/>
          <p:nvPr/>
        </p:nvSpPr>
        <p:spPr>
          <a:xfrm>
            <a:off x="9299448" y="2651760"/>
            <a:ext cx="2377440" cy="3566160"/>
          </a:xfrm>
          <a:prstGeom prst="roundRect">
            <a:avLst>
              <a:gd name="adj" fmla="val 6923"/>
            </a:avLst>
          </a:prstGeom>
          <a:solidFill>
            <a:srgbClr val="EA580C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0" name="anim_05_26"/>
          <p:cNvSpPr txBox="1"/>
          <p:nvPr/>
        </p:nvSpPr>
        <p:spPr>
          <a:xfrm>
            <a:off x="952804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000" dirty="0"/>
          </a:p>
        </p:txBody>
      </p:sp>
      <p:sp>
        <p:nvSpPr>
          <p:cNvPr id="21" name="anim_05_27"/>
          <p:cNvSpPr txBox="1"/>
          <p:nvPr/>
        </p:nvSpPr>
        <p:spPr>
          <a:xfrm>
            <a:off x="9528048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2100" dirty="0"/>
          </a:p>
        </p:txBody>
      </p:sp>
      <p:sp>
        <p:nvSpPr>
          <p:cNvPr id="22" name="anim_05_28"/>
          <p:cNvSpPr txBox="1"/>
          <p:nvPr/>
        </p:nvSpPr>
        <p:spPr>
          <a:xfrm>
            <a:off x="9528048" y="44805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live openings, demand trends and salaries in results and the AI Guide.</a:t>
            </a:r>
            <a:endParaRPr lang="en-US" sz="1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 ENGINE</dc:title>
  <dc:subject>PptxGenJS Presentation</dc:subject>
  <dc:creator>Team Byte Busters</dc:creator>
  <cp:lastModifiedBy>Team Byte Busters</cp:lastModifiedBy>
  <cp:revision>1</cp:revision>
  <dcterms:created xsi:type="dcterms:W3CDTF">2026-10-08T02:50:47Z</dcterms:created>
  <dcterms:modified xsi:type="dcterms:W3CDTF">2026-10-08T02:50:47Z</dcterms:modified>
</cp:coreProperties>
</file>